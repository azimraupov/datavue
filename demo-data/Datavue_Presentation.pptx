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D9CC71-3BDD-434B-B411-1AF89854D5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81B27D-129B-4848-8B2E-B593334873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36D315-4DF6-49DB-91C2-8541A58A55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D9364C-8DA3-490B-A9E2-69CE62A1CE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7C41C9-32E6-4690-80DF-C61F847F21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A613BB-15CC-4502-B34F-571F40B65A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6A4858-505B-4E6B-BD6F-CF7F7F93A9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0CE27D-8980-4EEE-A216-79CBEEFBBA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7B4CFA-8974-42E0-9681-360D129F69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F54933-E617-4D8F-B4D1-FFCCF0478F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46F39C-E29B-4919-9024-04448886A3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9966960" y="-2377440"/>
            <a:ext cx="5486040" cy="548604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-2743200" y="4480560"/>
            <a:ext cx="5120280" cy="512028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0" y="6711840"/>
            <a:ext cx="12191400" cy="14580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5139000" y="960120"/>
            <a:ext cx="239256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ПРЕЗЕНТАЦИЯ ПРОЕКТА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097280" y="1554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Привет, я Азим Раупов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logo.png"/>
          <p:cNvPicPr/>
          <p:nvPr/>
        </p:nvPicPr>
        <p:blipFill>
          <a:blip r:embed="rId1"/>
          <a:stretch/>
        </p:blipFill>
        <p:spPr>
          <a:xfrm>
            <a:off x="3627000" y="2514600"/>
            <a:ext cx="4937400" cy="14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1097280" y="42775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Платформа визуализации данных и аналитики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1097280" y="48718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BI-инструменты, которые облегчают аналитику бизнеса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ounded Rectangle 2"/>
          <p:cNvSpPr/>
          <p:nvPr/>
        </p:nvSpPr>
        <p:spPr>
          <a:xfrm>
            <a:off x="822960" y="502920"/>
            <a:ext cx="134496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О ПРОЕКТЕ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822960" y="96012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Зачем нужен Datavue</a:t>
            </a:r>
            <a:endParaRPr lang="ru-RU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822960" y="178308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70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Datavue — это BI-платформа, которая даёт компании все инструменты для аналитики данных в одном месте. Это не замена аналитику, а инструменты для него и всей команды: подключить базу, построить график или получить ответ на вопрос о бизнесе можно, просто спросив обычными словами.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5"/>
          <p:cNvSpPr/>
          <p:nvPr/>
        </p:nvSpPr>
        <p:spPr>
          <a:xfrm>
            <a:off x="822960" y="3429000"/>
            <a:ext cx="2541600" cy="2331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ectangle 6"/>
          <p:cNvSpPr/>
          <p:nvPr/>
        </p:nvSpPr>
        <p:spPr>
          <a:xfrm>
            <a:off x="822960" y="3429000"/>
            <a:ext cx="2541600" cy="82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Oval 7"/>
          <p:cNvSpPr/>
          <p:nvPr/>
        </p:nvSpPr>
        <p:spPr>
          <a:xfrm>
            <a:off x="1078920" y="3740040"/>
            <a:ext cx="456840" cy="456840"/>
          </a:xfrm>
          <a:prstGeom prst="ellipse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1078920" y="438912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Подключить данные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078920" y="50292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любой файл или база — за минуту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0"/>
          <p:cNvSpPr/>
          <p:nvPr/>
        </p:nvSpPr>
        <p:spPr>
          <a:xfrm>
            <a:off x="3566160" y="3429000"/>
            <a:ext cx="2541600" cy="2331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11"/>
          <p:cNvSpPr/>
          <p:nvPr/>
        </p:nvSpPr>
        <p:spPr>
          <a:xfrm>
            <a:off x="3566160" y="3429000"/>
            <a:ext cx="2541600" cy="82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Oval 12"/>
          <p:cNvSpPr/>
          <p:nvPr/>
        </p:nvSpPr>
        <p:spPr>
          <a:xfrm>
            <a:off x="3822120" y="3740040"/>
            <a:ext cx="456840" cy="456840"/>
          </a:xfrm>
          <a:prstGeom prst="ellipse">
            <a:avLst/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3822120" y="438912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Спросить и получить ответ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3822120" y="50292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быстрый ответ на вопрос о данных — прямо в чате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5"/>
          <p:cNvSpPr/>
          <p:nvPr/>
        </p:nvSpPr>
        <p:spPr>
          <a:xfrm>
            <a:off x="6309360" y="3429000"/>
            <a:ext cx="2541600" cy="2331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16"/>
          <p:cNvSpPr/>
          <p:nvPr/>
        </p:nvSpPr>
        <p:spPr>
          <a:xfrm>
            <a:off x="6309360" y="3429000"/>
            <a:ext cx="2541600" cy="82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Oval 17"/>
          <p:cNvSpPr/>
          <p:nvPr/>
        </p:nvSpPr>
        <p:spPr>
          <a:xfrm>
            <a:off x="6565320" y="3740040"/>
            <a:ext cx="456840" cy="456840"/>
          </a:xfrm>
          <a:prstGeom prst="ellipse">
            <a:avLst/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6565320" y="438912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Увидеть картину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6565320" y="50292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дашборды и графики без единой строчки кода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20"/>
          <p:cNvSpPr/>
          <p:nvPr/>
        </p:nvSpPr>
        <p:spPr>
          <a:xfrm>
            <a:off x="9052560" y="3429000"/>
            <a:ext cx="2541600" cy="2331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21"/>
          <p:cNvSpPr/>
          <p:nvPr/>
        </p:nvSpPr>
        <p:spPr>
          <a:xfrm>
            <a:off x="9052560" y="3429000"/>
            <a:ext cx="2541600" cy="820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7440" rIns="90000" bIns="374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Oval 22"/>
          <p:cNvSpPr/>
          <p:nvPr/>
        </p:nvSpPr>
        <p:spPr>
          <a:xfrm>
            <a:off x="9308520" y="3740040"/>
            <a:ext cx="456840" cy="456840"/>
          </a:xfrm>
          <a:prstGeom prst="ellipse">
            <a:avLst/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3"/>
          <p:cNvSpPr/>
          <p:nvPr/>
        </p:nvSpPr>
        <p:spPr>
          <a:xfrm>
            <a:off x="9308520" y="438912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Не пропустить важное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4"/>
          <p:cNvSpPr/>
          <p:nvPr/>
        </p:nvSpPr>
        <p:spPr>
          <a:xfrm>
            <a:off x="9308520" y="5029200"/>
            <a:ext cx="2029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2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алерты сами предупредят о проблеме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6"/>
          <p:cNvSpPr/>
          <p:nvPr/>
        </p:nvSpPr>
        <p:spPr>
          <a:xfrm>
            <a:off x="786240" y="6455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7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2"/>
          <p:cNvSpPr/>
          <p:nvPr/>
        </p:nvSpPr>
        <p:spPr>
          <a:xfrm>
            <a:off x="822960" y="457200"/>
            <a:ext cx="312624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1 · ЯДРО ПЛАТФОРМЫ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822960" y="914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Чат с ИИ-агентом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822960" y="1572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Общаетесь с данными обычными словами — агент сам решает, что нужно сделать.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5"/>
          <p:cNvSpPr/>
          <p:nvPr/>
        </p:nvSpPr>
        <p:spPr>
          <a:xfrm>
            <a:off x="822960" y="23864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1234440" y="233172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Понимает намерение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сам определяет: ответить в чате, построить дашборд или выгрузить файл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7"/>
          <p:cNvSpPr/>
          <p:nvPr/>
        </p:nvSpPr>
        <p:spPr>
          <a:xfrm>
            <a:off x="822960" y="312048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1234440" y="306540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Отвечает только фактами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сам пишет и выполняет SQL-запрос к вашим данным, а не выдумывает цифры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9"/>
          <p:cNvSpPr/>
          <p:nvPr/>
        </p:nvSpPr>
        <p:spPr>
          <a:xfrm>
            <a:off x="822960" y="38541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1234440" y="379944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Строит и меняет дашборды по фразе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«собери дашборд по продажам за 2025 год»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1"/>
          <p:cNvSpPr/>
          <p:nvPr/>
        </p:nvSpPr>
        <p:spPr>
          <a:xfrm>
            <a:off x="822960" y="45878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1234440" y="453312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Помнит разговор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понимает короткие ответы вроде «давай» или «не такой график»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3"/>
          <p:cNvSpPr/>
          <p:nvPr/>
        </p:nvSpPr>
        <p:spPr>
          <a:xfrm>
            <a:off x="822960" y="5394960"/>
            <a:ext cx="10515240" cy="868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4"/>
          <p:cNvSpPr/>
          <p:nvPr/>
        </p:nvSpPr>
        <p:spPr>
          <a:xfrm>
            <a:off x="822960" y="5394960"/>
            <a:ext cx="82080" cy="8683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1170360" y="5541120"/>
            <a:ext cx="9920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Спросите «Сколько заказов было в марте и кто топ-5 клиентов?» — агент сам найдёт нужные таблицы, посчитает и ответит текстом с точными цифрами.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786240" y="6455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3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ounded Rectangle 2"/>
          <p:cNvSpPr/>
          <p:nvPr/>
        </p:nvSpPr>
        <p:spPr>
          <a:xfrm>
            <a:off x="822960" y="457200"/>
            <a:ext cx="228780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2 · ДАННЫЕ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822960" y="914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Источники данных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822960" y="1572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Любые данные компании — в одном месте, без ручной подготовки.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5"/>
          <p:cNvSpPr/>
          <p:nvPr/>
        </p:nvSpPr>
        <p:spPr>
          <a:xfrm>
            <a:off x="822960" y="23864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1234440" y="233172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Файлы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CSV и Excel: заголовки, типы колонок и структура распознаются автоматически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7"/>
          <p:cNvSpPr/>
          <p:nvPr/>
        </p:nvSpPr>
        <p:spPr>
          <a:xfrm>
            <a:off x="822960" y="297360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8"/>
          <p:cNvSpPr/>
          <p:nvPr/>
        </p:nvSpPr>
        <p:spPr>
          <a:xfrm>
            <a:off x="1234440" y="291888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Готовые базы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SQLite-файл или SQL-дамп MySQL импортируется сам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9"/>
          <p:cNvSpPr/>
          <p:nvPr/>
        </p:nvSpPr>
        <p:spPr>
          <a:xfrm>
            <a:off x="822960" y="35607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0"/>
          <p:cNvSpPr/>
          <p:nvPr/>
        </p:nvSpPr>
        <p:spPr>
          <a:xfrm>
            <a:off x="1234440" y="350568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Живое подключение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MySQL, PostgreSQL, SQLite по логину и паролю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11"/>
          <p:cNvSpPr/>
          <p:nvPr/>
        </p:nvSpPr>
        <p:spPr>
          <a:xfrm>
            <a:off x="822960" y="41475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2"/>
          <p:cNvSpPr/>
          <p:nvPr/>
        </p:nvSpPr>
        <p:spPr>
          <a:xfrm>
            <a:off x="1234440" y="409284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Google Таблицы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данные забираются прямо по ссылке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3"/>
          <p:cNvSpPr/>
          <p:nvPr/>
        </p:nvSpPr>
        <p:spPr>
          <a:xfrm>
            <a:off x="822960" y="473472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F7670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4"/>
          <p:cNvSpPr/>
          <p:nvPr/>
        </p:nvSpPr>
        <p:spPr>
          <a:xfrm>
            <a:off x="1234440" y="468000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ИИ сам раскладывает таблицы по смыслу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«Продажи», «Клиенты», «Финансы» вместо сотен безымянных таблиц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15"/>
          <p:cNvSpPr/>
          <p:nvPr/>
        </p:nvSpPr>
        <p:spPr>
          <a:xfrm>
            <a:off x="822960" y="5394960"/>
            <a:ext cx="10515240" cy="868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16"/>
          <p:cNvSpPr/>
          <p:nvPr/>
        </p:nvSpPr>
        <p:spPr>
          <a:xfrm>
            <a:off x="822960" y="5394960"/>
            <a:ext cx="82080" cy="8683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7"/>
          <p:cNvSpPr/>
          <p:nvPr/>
        </p:nvSpPr>
        <p:spPr>
          <a:xfrm>
            <a:off x="1170360" y="5541120"/>
            <a:ext cx="9920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Отдел продаж просто перетаскивает Excel с заказами — через минуту таблицы уже разложены по смысловым группам, айтишники не нужны.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9"/>
          <p:cNvSpPr/>
          <p:nvPr/>
        </p:nvSpPr>
        <p:spPr>
          <a:xfrm>
            <a:off x="786240" y="6499080"/>
            <a:ext cx="18284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0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4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ounded Rectangle 2"/>
          <p:cNvSpPr/>
          <p:nvPr/>
        </p:nvSpPr>
        <p:spPr>
          <a:xfrm>
            <a:off x="822960" y="457200"/>
            <a:ext cx="291672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3 · ВИЗУАЛИЗАЦИЯ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822960" y="914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Дашборды и виджеты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822960" y="1572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От графиков и KPI-карточек до тепловых карт — без единой строчки кода.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5"/>
          <p:cNvSpPr/>
          <p:nvPr/>
        </p:nvSpPr>
        <p:spPr>
          <a:xfrm>
            <a:off x="822960" y="23864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1234440" y="233172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13+ типов визуализации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линии, столбцы, круговые, воронки, карты, тепловые карты, KPI-карточки, таблицы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7"/>
          <p:cNvSpPr/>
          <p:nvPr/>
        </p:nvSpPr>
        <p:spPr>
          <a:xfrm>
            <a:off x="822960" y="312048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1234440" y="306540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Конструктор без кода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выбрал поля — получил график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9"/>
          <p:cNvSpPr/>
          <p:nvPr/>
        </p:nvSpPr>
        <p:spPr>
          <a:xfrm>
            <a:off x="822960" y="38541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1234440" y="379944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SQL и Python для профи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свой запрос или скрипт, если нужна нестандартная логика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1"/>
          <p:cNvSpPr/>
          <p:nvPr/>
        </p:nvSpPr>
        <p:spPr>
          <a:xfrm>
            <a:off x="822960" y="45878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CA6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1234440" y="453312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Версии дашборда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каждая перестройка сохраняется отдельно, старое не теряется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3"/>
          <p:cNvSpPr/>
          <p:nvPr/>
        </p:nvSpPr>
        <p:spPr>
          <a:xfrm>
            <a:off x="822960" y="5394960"/>
            <a:ext cx="10515240" cy="868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4"/>
          <p:cNvSpPr/>
          <p:nvPr/>
        </p:nvSpPr>
        <p:spPr>
          <a:xfrm>
            <a:off x="822960" y="5394960"/>
            <a:ext cx="82080" cy="8683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5"/>
          <p:cNvSpPr/>
          <p:nvPr/>
        </p:nvSpPr>
        <p:spPr>
          <a:xfrm>
            <a:off x="1170360" y="5541120"/>
            <a:ext cx="9920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Маркетолог за пару кликов собирает воронку продаж по этапам — сразу видно, на каком шаге теряются клиенты.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7"/>
          <p:cNvSpPr/>
          <p:nvPr/>
        </p:nvSpPr>
        <p:spPr>
          <a:xfrm>
            <a:off x="786240" y="6455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8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5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ounded Rectangle 2"/>
          <p:cNvSpPr/>
          <p:nvPr/>
        </p:nvSpPr>
        <p:spPr>
          <a:xfrm>
            <a:off x="822960" y="457200"/>
            <a:ext cx="354528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4 · ОРГАНИЗАЦИЯ РАБОТЫ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822960" y="914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Рабочие пространства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822960" y="1572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Один источник данных, дашборды и разговор с агентом — вместе, под одну задачу.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5"/>
          <p:cNvSpPr/>
          <p:nvPr/>
        </p:nvSpPr>
        <p:spPr>
          <a:xfrm>
            <a:off x="822960" y="23864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1234440" y="233172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Всё в одном месте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данные, графики и переписка с агентом не расходятся по вкладкам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7"/>
          <p:cNvSpPr/>
          <p:nvPr/>
        </p:nvSpPr>
        <p:spPr>
          <a:xfrm>
            <a:off x="822960" y="316368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1234440" y="310896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Диалог у самого дашборда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попросить объяснить виджет или переделать его тут же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9"/>
          <p:cNvSpPr/>
          <p:nvPr/>
        </p:nvSpPr>
        <p:spPr>
          <a:xfrm>
            <a:off x="822960" y="394092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EDA1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1234440" y="388620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Несколько версий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можно сравнить, как дашборд выглядел раньше и сейчас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1"/>
          <p:cNvSpPr/>
          <p:nvPr/>
        </p:nvSpPr>
        <p:spPr>
          <a:xfrm>
            <a:off x="822960" y="4791600"/>
            <a:ext cx="10515240" cy="147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12"/>
          <p:cNvSpPr/>
          <p:nvPr/>
        </p:nvSpPr>
        <p:spPr>
          <a:xfrm>
            <a:off x="822960" y="4791600"/>
            <a:ext cx="82080" cy="147168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3"/>
          <p:cNvSpPr/>
          <p:nvPr/>
        </p:nvSpPr>
        <p:spPr>
          <a:xfrm>
            <a:off x="1170360" y="4937760"/>
            <a:ext cx="9920880" cy="11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Пространство «Продажи Q3» хранит одну базу, три версии дашборда и всю переписку с агентом — ничего не приходится искать по разным местам.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5"/>
          <p:cNvSpPr/>
          <p:nvPr/>
        </p:nvSpPr>
        <p:spPr>
          <a:xfrm>
            <a:off x="786240" y="6455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6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6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2"/>
          <p:cNvSpPr/>
          <p:nvPr/>
        </p:nvSpPr>
        <p:spPr>
          <a:xfrm>
            <a:off x="822960" y="457200"/>
            <a:ext cx="270720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5 · МОНИТОРИНГ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822960" y="914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Алерты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822960" y="1572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Платформа сама следит за метриками и сообщает, когда что-то пошло не так.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5"/>
          <p:cNvSpPr/>
          <p:nvPr/>
        </p:nvSpPr>
        <p:spPr>
          <a:xfrm>
            <a:off x="822960" y="23864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1234440" y="233172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Любое условие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конструктор без кода, свой SQL или Python-скрипт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822960" y="297360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1234440" y="291888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Проверка по расписанию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от нескольких минут и чаще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9"/>
          <p:cNvSpPr/>
          <p:nvPr/>
        </p:nvSpPr>
        <p:spPr>
          <a:xfrm>
            <a:off x="822960" y="35607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1234440" y="350568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Уведомление сотрудникам и на почту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не только внутри платформы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11"/>
          <p:cNvSpPr/>
          <p:nvPr/>
        </p:nvSpPr>
        <p:spPr>
          <a:xfrm>
            <a:off x="822960" y="41475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1234440" y="409284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CSV с деталями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к письму сразу прикладываются строки, вызвавшие срабатывание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3"/>
          <p:cNvSpPr/>
          <p:nvPr/>
        </p:nvSpPr>
        <p:spPr>
          <a:xfrm>
            <a:off x="822960" y="473472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D6336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4"/>
          <p:cNvSpPr/>
          <p:nvPr/>
        </p:nvSpPr>
        <p:spPr>
          <a:xfrm>
            <a:off x="1234440" y="468000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История проверок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видно, что и когда срабатывало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5"/>
          <p:cNvSpPr/>
          <p:nvPr/>
        </p:nvSpPr>
        <p:spPr>
          <a:xfrm>
            <a:off x="822960" y="5394960"/>
            <a:ext cx="10515240" cy="868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16"/>
          <p:cNvSpPr/>
          <p:nvPr/>
        </p:nvSpPr>
        <p:spPr>
          <a:xfrm>
            <a:off x="822960" y="5394960"/>
            <a:ext cx="82080" cy="8683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7"/>
          <p:cNvSpPr/>
          <p:nvPr/>
        </p:nvSpPr>
        <p:spPr>
          <a:xfrm>
            <a:off x="1170360" y="5541120"/>
            <a:ext cx="9920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Финансовый директор настраивает правило «сообщи, если сумма возвратов за день больше $5000». Как только это случается — письмо со сработавшими строками уже у него в почте.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9"/>
          <p:cNvSpPr/>
          <p:nvPr/>
        </p:nvSpPr>
        <p:spPr>
          <a:xfrm>
            <a:off x="786240" y="6455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0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7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ounded Rectangle 2"/>
          <p:cNvSpPr/>
          <p:nvPr/>
        </p:nvSpPr>
        <p:spPr>
          <a:xfrm>
            <a:off x="822960" y="457200"/>
            <a:ext cx="228780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6 · ОТЧЁТЫ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822960" y="914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Экспорт в файл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822960" y="1572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Просите файл прямо в чате — платформа сама его готовит.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5"/>
          <p:cNvSpPr/>
          <p:nvPr/>
        </p:nvSpPr>
        <p:spPr>
          <a:xfrm>
            <a:off x="822960" y="23864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1234440" y="233172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Четыре формата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CSV, Excel, PDF, Word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7"/>
          <p:cNvSpPr/>
          <p:nvPr/>
        </p:nvSpPr>
        <p:spPr>
          <a:xfrm>
            <a:off x="822960" y="312048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1234440" y="306540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Обычная фраза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«сохрани топ-10 клиентов в Excel» — и файл готов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9"/>
          <p:cNvSpPr/>
          <p:nvPr/>
        </p:nvSpPr>
        <p:spPr>
          <a:xfrm>
            <a:off x="822960" y="38541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0"/>
          <p:cNvSpPr/>
          <p:nvPr/>
        </p:nvSpPr>
        <p:spPr>
          <a:xfrm>
            <a:off x="1234440" y="379944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Ссылка сразу в переписке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скачать может любой, кому её переслали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1"/>
          <p:cNvSpPr/>
          <p:nvPr/>
        </p:nvSpPr>
        <p:spPr>
          <a:xfrm>
            <a:off x="822960" y="45878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0083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2"/>
          <p:cNvSpPr/>
          <p:nvPr/>
        </p:nvSpPr>
        <p:spPr>
          <a:xfrm>
            <a:off x="1234440" y="4533120"/>
            <a:ext cx="1005804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История выгрузок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прошлые файлы всегда под рукой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3"/>
          <p:cNvSpPr/>
          <p:nvPr/>
        </p:nvSpPr>
        <p:spPr>
          <a:xfrm>
            <a:off x="822960" y="5394960"/>
            <a:ext cx="10515240" cy="868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4"/>
          <p:cNvSpPr/>
          <p:nvPr/>
        </p:nvSpPr>
        <p:spPr>
          <a:xfrm>
            <a:off x="822960" y="5394960"/>
            <a:ext cx="82080" cy="8683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5"/>
          <p:cNvSpPr/>
          <p:nvPr/>
        </p:nvSpPr>
        <p:spPr>
          <a:xfrm>
            <a:off x="1170360" y="5541120"/>
            <a:ext cx="9920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Перед встречей с инвестором менеджер просит агента подготовить PDF-отчёт по выручке — файл готов за секунды, вручную считать в Excel не нужно.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7"/>
          <p:cNvSpPr/>
          <p:nvPr/>
        </p:nvSpPr>
        <p:spPr>
          <a:xfrm>
            <a:off x="786240" y="6455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8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8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ounded Rectangle 2"/>
          <p:cNvSpPr/>
          <p:nvPr/>
        </p:nvSpPr>
        <p:spPr>
          <a:xfrm>
            <a:off x="822960" y="457200"/>
            <a:ext cx="2392560" cy="365400"/>
          </a:xfrm>
          <a:prstGeom prst="roundRect">
            <a:avLst>
              <a:gd name="adj" fmla="val 50000"/>
            </a:avLst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60" tIns="0" rIns="2556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ФУНКЦИЯ 7 · КОМАНДА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822960" y="91440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Роли и доступ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822960" y="15728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У каждого сотрудника ровно тот доступ, который нужен для его работы.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5"/>
          <p:cNvSpPr/>
          <p:nvPr/>
        </p:nvSpPr>
        <p:spPr>
          <a:xfrm>
            <a:off x="822960" y="238644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1234440" y="233172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Администратор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полный доступ, управляет сотрудниками и правами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7"/>
          <p:cNvSpPr/>
          <p:nvPr/>
        </p:nvSpPr>
        <p:spPr>
          <a:xfrm>
            <a:off x="822960" y="297360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1234440" y="291888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Аналитик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строит дашборды, подключает источники, ведёт чаты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9"/>
          <p:cNvSpPr/>
          <p:nvPr/>
        </p:nvSpPr>
        <p:spPr>
          <a:xfrm>
            <a:off x="822960" y="35607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0"/>
          <p:cNvSpPr/>
          <p:nvPr/>
        </p:nvSpPr>
        <p:spPr>
          <a:xfrm>
            <a:off x="1234440" y="350568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Наблюдатель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только просмотр готовых дашбордов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1"/>
          <p:cNvSpPr/>
          <p:nvPr/>
        </p:nvSpPr>
        <p:spPr>
          <a:xfrm>
            <a:off x="822960" y="414756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12"/>
          <p:cNvSpPr/>
          <p:nvPr/>
        </p:nvSpPr>
        <p:spPr>
          <a:xfrm>
            <a:off x="1234440" y="409284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Директор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особый облегчённый режим: только чат с ИИ и готовые дашборды, без настроек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13"/>
          <p:cNvSpPr/>
          <p:nvPr/>
        </p:nvSpPr>
        <p:spPr>
          <a:xfrm>
            <a:off x="822960" y="4734720"/>
            <a:ext cx="200880" cy="200880"/>
          </a:xfrm>
          <a:prstGeom prst="roundRect">
            <a:avLst>
              <a:gd name="adj" fmla="val 25000"/>
            </a:avLst>
          </a:prstGeom>
          <a:solidFill>
            <a:srgbClr val="42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4"/>
          <p:cNvSpPr/>
          <p:nvPr/>
        </p:nvSpPr>
        <p:spPr>
          <a:xfrm>
            <a:off x="1234440" y="4680000"/>
            <a:ext cx="10058040" cy="5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55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Особые права — </a:t>
            </a:r>
            <a:r>
              <a:rPr lang="en-US" sz="1550" b="0" u="none" strike="noStrike">
                <a:solidFill>
                  <a:srgbClr val="4A4A4A"/>
                </a:solidFill>
                <a:effectLst/>
                <a:uFillTx/>
                <a:latin typeface="Arial"/>
              </a:rPr>
              <a:t>доступ настраивается галочками под конкретного сотрудника</a:t>
            </a:r>
            <a:endParaRPr lang="ru-RU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5"/>
          <p:cNvSpPr/>
          <p:nvPr/>
        </p:nvSpPr>
        <p:spPr>
          <a:xfrm>
            <a:off x="822960" y="5394960"/>
            <a:ext cx="10515240" cy="868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16"/>
          <p:cNvSpPr/>
          <p:nvPr/>
        </p:nvSpPr>
        <p:spPr>
          <a:xfrm>
            <a:off x="822960" y="5394960"/>
            <a:ext cx="82080" cy="86832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7"/>
          <p:cNvSpPr/>
          <p:nvPr/>
        </p:nvSpPr>
        <p:spPr>
          <a:xfrm>
            <a:off x="1170360" y="5541120"/>
            <a:ext cx="9920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Пример.  </a:t>
            </a:r>
            <a:r>
              <a:rPr lang="en-US" sz="1450" b="0" i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Директор компании открывает Datavue и видит только чат: спрашивает «как дела с продажами» — и сразу получает готовый дашборд, не отвлекаясь на лишние настройки.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9"/>
          <p:cNvSpPr/>
          <p:nvPr/>
        </p:nvSpPr>
        <p:spPr>
          <a:xfrm>
            <a:off x="786240" y="645552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0"/>
          <p:cNvSpPr/>
          <p:nvPr/>
        </p:nvSpPr>
        <p:spPr>
          <a:xfrm>
            <a:off x="11338560" y="645552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9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Oval 1"/>
          <p:cNvSpPr/>
          <p:nvPr/>
        </p:nvSpPr>
        <p:spPr>
          <a:xfrm>
            <a:off x="-2743200" y="-2743200"/>
            <a:ext cx="5120280" cy="512028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Oval 2"/>
          <p:cNvSpPr/>
          <p:nvPr/>
        </p:nvSpPr>
        <p:spPr>
          <a:xfrm>
            <a:off x="9784080" y="4023360"/>
            <a:ext cx="5120280" cy="5120280"/>
          </a:xfrm>
          <a:prstGeom prst="ellipse">
            <a:avLst/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3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4"/>
          <p:cNvSpPr/>
          <p:nvPr/>
        </p:nvSpPr>
        <p:spPr>
          <a:xfrm>
            <a:off x="0" y="6711840"/>
            <a:ext cx="12191400" cy="145800"/>
          </a:xfrm>
          <a:prstGeom prst="rect">
            <a:avLst/>
          </a:prstGeom>
          <a:solidFill>
            <a:srgbClr val="066FD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3" name="Picture 5" descr="icon.png"/>
          <p:cNvPicPr/>
          <p:nvPr/>
        </p:nvPicPr>
        <p:blipFill>
          <a:blip r:embed="rId1"/>
          <a:stretch/>
        </p:blipFill>
        <p:spPr>
          <a:xfrm>
            <a:off x="5592960" y="1600200"/>
            <a:ext cx="1013400" cy="100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Box 6"/>
          <p:cNvSpPr/>
          <p:nvPr/>
        </p:nvSpPr>
        <p:spPr>
          <a:xfrm>
            <a:off x="1097280" y="288036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22272E"/>
                </a:solidFill>
                <a:effectLst/>
                <a:uFillTx/>
                <a:latin typeface="Arial"/>
              </a:rPr>
              <a:t>Спасибо за внимание!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7"/>
          <p:cNvSpPr/>
          <p:nvPr/>
        </p:nvSpPr>
        <p:spPr>
          <a:xfrm>
            <a:off x="1097280" y="3703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66FD1"/>
                </a:solidFill>
                <a:effectLst/>
                <a:uFillTx/>
                <a:latin typeface="Arial"/>
              </a:rPr>
              <a:t>Datavue — вся аналитика бизнеса в одном чате.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8"/>
          <p:cNvSpPr/>
          <p:nvPr/>
        </p:nvSpPr>
        <p:spPr>
          <a:xfrm>
            <a:off x="1097280" y="44805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8A939E"/>
                </a:solidFill>
                <a:effectLst/>
                <a:uFillTx/>
                <a:latin typeface="Arial"/>
              </a:rPr>
              <a:t>Азим Раупов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2026-09-14T09:07:35Z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