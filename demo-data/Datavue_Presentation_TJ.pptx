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2377440"/>
            <a:ext cx="5486400" cy="548640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4480560"/>
            <a:ext cx="5120640" cy="512064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92040" y="960120"/>
            <a:ext cx="1973961" cy="36576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МУАРРИФИИ ЛОИҲА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2272E"/>
                </a:solidFill>
                <a:latin typeface="Arial"/>
              </a:rPr>
              <a:t>Салом, ман Азим Раупов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967" y="2514600"/>
            <a:ext cx="4937760" cy="14428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4277491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066FD1"/>
                </a:solidFill>
                <a:latin typeface="Arial"/>
              </a:rPr>
              <a:t>Платформаи намоиши маълумот ва таҳлил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71851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1">
                <a:solidFill>
                  <a:srgbClr val="4A4A4A"/>
                </a:solidFill>
                <a:latin typeface="Arial"/>
              </a:rPr>
              <a:t>Абзорҳои таҳлилӣ (BI), ки таҳлили тиҷоратро осон мекунанд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973961" cy="36576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ДАР БОРАИ ЛОИҲА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2272E"/>
                </a:solidFill>
                <a:latin typeface="Arial"/>
              </a:rPr>
              <a:t>Барои чӣ Datavue лозим аст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4A4A4A"/>
                </a:solidFill>
                <a:latin typeface="Arial"/>
              </a:rPr>
              <a:t>Datavue платформаест, ки ба ширкат ҳамаи абзорҳои зарурии таҳлили маълумотро дар як ҷо медиҳад. Ин на ивазкунандаи таҳлилгар, балки абзор барои худи ӯ ва тамоми гурӯҳ аст: пайваст кардани пойгоҳи маълумот, сохтани график ё гирифтани ҷавоби саволи тиҷоратиро танҳо бо пурсидани калимаҳои одӣ анҷом додан мумкин аст.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429000"/>
            <a:ext cx="2542032" cy="23317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429000"/>
            <a:ext cx="2542032" cy="82296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992" y="3739896"/>
            <a:ext cx="457200" cy="457200"/>
          </a:xfrm>
          <a:prstGeom prst="ellipse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389120"/>
            <a:ext cx="2029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22272E"/>
                </a:solidFill>
                <a:latin typeface="Arial"/>
              </a:rPr>
              <a:t>Пайваст кардани маълумот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5029200"/>
            <a:ext cx="20299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A4A4A"/>
                </a:solidFill>
                <a:latin typeface="Arial"/>
              </a:rPr>
              <a:t>ҳар гуна файл ё пойгоҳи маълумот — дар як дақиқа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3429000"/>
            <a:ext cx="2542032" cy="23317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3429000"/>
            <a:ext cx="2542032" cy="82296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22192" y="3739896"/>
            <a:ext cx="457200" cy="457200"/>
          </a:xfrm>
          <a:prstGeom prst="ellipse">
            <a:avLst/>
          </a:prstGeom>
          <a:solidFill>
            <a:srgbClr val="F76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2" y="4389120"/>
            <a:ext cx="2029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22272E"/>
                </a:solidFill>
                <a:latin typeface="Arial"/>
              </a:rPr>
              <a:t>Пурсидан ва ҷавоб гирифтан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2" y="5029200"/>
            <a:ext cx="20299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A4A4A"/>
                </a:solidFill>
                <a:latin typeface="Arial"/>
              </a:rPr>
              <a:t>ҷавоби зуд ба саволи марбут ба маълумот — дар чат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29000"/>
            <a:ext cx="2542032" cy="23317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429000"/>
            <a:ext cx="2542032" cy="82296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65392" y="3739896"/>
            <a:ext cx="457200" cy="457200"/>
          </a:xfrm>
          <a:prstGeom prst="ellipse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389120"/>
            <a:ext cx="2029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22272E"/>
                </a:solidFill>
                <a:latin typeface="Arial"/>
              </a:rPr>
              <a:t>Дидани тасвири умумӣ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5029200"/>
            <a:ext cx="20299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A4A4A"/>
                </a:solidFill>
                <a:latin typeface="Arial"/>
              </a:rPr>
              <a:t>дашборду график бе ягон сатри код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3429000"/>
            <a:ext cx="2542032" cy="23317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3429000"/>
            <a:ext cx="2542032" cy="82296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08592" y="3739896"/>
            <a:ext cx="457200" cy="457200"/>
          </a:xfrm>
          <a:prstGeom prst="ellipse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4389120"/>
            <a:ext cx="2029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22272E"/>
                </a:solidFill>
                <a:latin typeface="Arial"/>
              </a:rPr>
              <a:t>Аз даст надодани чизи муҳим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5029200"/>
            <a:ext cx="20299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A4A4A"/>
                </a:solidFill>
                <a:latin typeface="Arial"/>
              </a:rPr>
              <a:t>ҳушдорҳо худашон дар бораи мушкилот огоҳ мекунанд</a:t>
            </a:r>
          </a:p>
        </p:txBody>
      </p:sp>
      <p:pic>
        <p:nvPicPr>
          <p:cNvPr id="26" name="Picture 25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55664"/>
            <a:ext cx="239580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6384" y="6455664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939E"/>
                </a:solidFill>
                <a:latin typeface="Arial"/>
              </a:rPr>
              <a:t>Datavue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55664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939E"/>
                </a:solidFill>
                <a:latin typeface="Arial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00800"/>
            <a:ext cx="11183112" cy="1778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57200"/>
            <a:ext cx="3440811" cy="36576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ИМКОНИЯТИ 1 · АСОСИ ПЛАТФОРМА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272E"/>
                </a:solidFill>
                <a:latin typeface="Arial"/>
              </a:rPr>
              <a:t>Чат бо агенти ҳуши сунъӣ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4A4A4A"/>
                </a:solidFill>
                <a:latin typeface="Arial"/>
              </a:rPr>
              <a:t>Бо маълумот бо калимаҳои одӣ гуфтугӯ мекунед — агент худаш ҳал мекунад, ки чӣ бояд кард.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86584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10058400" cy="733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Мақсадро мефаҳмад — </a:t>
            </a:r>
            <a:r>
              <a:rPr b="0" sz="1550">
                <a:solidFill>
                  <a:srgbClr val="4A4A4A"/>
                </a:solidFill>
                <a:latin typeface="Arial"/>
              </a:rPr>
              <a:t>худаш муайян мекунад: дар чат ҷавоб диҳад, дашборд созад ё файл содир кунад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20390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065526"/>
            <a:ext cx="10058400" cy="733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Танҳо бо далелҳо ҷавоб медиҳад — </a:t>
            </a:r>
            <a:r>
              <a:rPr b="0" sz="1550">
                <a:solidFill>
                  <a:srgbClr val="4A4A4A"/>
                </a:solidFill>
                <a:latin typeface="Arial"/>
              </a:rPr>
              <a:t>худаш дархости SQL-ро ба маълумоти шумо менависаду иҷро мекунад, на ки рақамҳоро аз худ мебарорад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54196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799332"/>
            <a:ext cx="10058400" cy="733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Бо як ҷумла дашборд месозаду тағйир медиҳад — </a:t>
            </a:r>
            <a:r>
              <a:rPr b="0" sz="1550">
                <a:solidFill>
                  <a:srgbClr val="4A4A4A"/>
                </a:solidFill>
                <a:latin typeface="Arial"/>
              </a:rPr>
              <a:t>масалан: «дашборди фурӯши соли 2025-ро тайёр кун»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588002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533138"/>
            <a:ext cx="10058400" cy="733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Сӯҳбатро дар хотир мегирад — </a:t>
            </a:r>
            <a:r>
              <a:rPr b="0" sz="1550">
                <a:solidFill>
                  <a:srgbClr val="4A4A4A"/>
                </a:solidFill>
                <a:latin typeface="Arial"/>
              </a:rPr>
              <a:t>ҷавобҳои кӯтоҳ ба монанди «хуб, кун» ё «на, ин график не»-ро мефаҳмад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39496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394960"/>
            <a:ext cx="82296" cy="868680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5541264"/>
            <a:ext cx="9921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1" sz="1450">
                <a:solidFill>
                  <a:srgbClr val="066FD1"/>
                </a:solidFill>
                <a:latin typeface="Arial"/>
              </a:rPr>
              <a:t>Мисол.  </a:t>
            </a:r>
            <a:r>
              <a:rPr b="0" sz="1450" i="1">
                <a:solidFill>
                  <a:srgbClr val="22272E"/>
                </a:solidFill>
                <a:latin typeface="Arial"/>
              </a:rPr>
              <a:t>Бипурсед: «Дар моҳи март чанд фармоиш буд ва 5 мизоҷи беҳтарин киҳоянд?» — агент худаш ҷадвалҳои лозимаро меёбад, ҳисоб мекунаду бо матн ва рақамҳои дақиқ ҷавоб медиҳад.</a:t>
            </a:r>
          </a:p>
        </p:txBody>
      </p:sp>
      <p:pic>
        <p:nvPicPr>
          <p:cNvPr id="17" name="Picture 16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55664"/>
            <a:ext cx="239580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6384" y="6455664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939E"/>
                </a:solidFill>
                <a:latin typeface="Arial"/>
              </a:rPr>
              <a:t>Datavue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55664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939E"/>
                </a:solidFill>
                <a:latin typeface="Arial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00800"/>
            <a:ext cx="11183112" cy="1778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57200"/>
            <a:ext cx="2707386" cy="36576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ИМКОНИЯТИ 2 · МАЪЛУМОТ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272E"/>
                </a:solidFill>
                <a:latin typeface="Arial"/>
              </a:rPr>
              <a:t>Сарчашмаҳои маълумот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4A4A4A"/>
                </a:solidFill>
                <a:latin typeface="Arial"/>
              </a:rPr>
              <a:t>Ҳар гуна маълумоти ширкат — дар як ҷо, бе тайёр кардани дастӣ.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86584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F76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10058400" cy="587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Файлҳо — </a:t>
            </a:r>
            <a:r>
              <a:rPr b="0" sz="1550">
                <a:solidFill>
                  <a:srgbClr val="4A4A4A"/>
                </a:solidFill>
                <a:latin typeface="Arial"/>
              </a:rPr>
              <a:t>CSV ва Excel: сарлавҳаҳо, намуди сутунҳо ва сохтор худкор муайян карда мешаванд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73628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F76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918764"/>
            <a:ext cx="10058400" cy="587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Пойгоҳҳои тайёр — </a:t>
            </a:r>
            <a:r>
              <a:rPr b="0" sz="1550">
                <a:solidFill>
                  <a:srgbClr val="4A4A4A"/>
                </a:solidFill>
                <a:latin typeface="Arial"/>
              </a:rPr>
              <a:t>файли SQLite ё нусхаи эҳтиётии SQL-и MySQL худаш ворид карда мешавад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60672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F76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505808"/>
            <a:ext cx="10058400" cy="587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Пайвасти зинда — </a:t>
            </a:r>
            <a:r>
              <a:rPr b="0" sz="1550">
                <a:solidFill>
                  <a:srgbClr val="4A4A4A"/>
                </a:solidFill>
                <a:latin typeface="Arial"/>
              </a:rPr>
              <a:t>MySQL, PostgreSQL, SQLite тавассути логин ва рамз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47716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F76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092852"/>
            <a:ext cx="10058400" cy="587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Ҷадвалҳои Google — </a:t>
            </a:r>
            <a:r>
              <a:rPr b="0" sz="1550">
                <a:solidFill>
                  <a:srgbClr val="4A4A4A"/>
                </a:solidFill>
                <a:latin typeface="Arial"/>
              </a:rPr>
              <a:t>маълумот бевосита тавассути истинод гирифта мешавад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34760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F76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679896"/>
            <a:ext cx="10058400" cy="587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Ҳуши сунъӣ худаш ҷадвалҳоро аз рӯи маъно гурӯҳбандӣ мекунад — </a:t>
            </a:r>
            <a:r>
              <a:rPr b="0" sz="1550">
                <a:solidFill>
                  <a:srgbClr val="4A4A4A"/>
                </a:solidFill>
                <a:latin typeface="Arial"/>
              </a:rPr>
              <a:t>«Фурӯш», «Мизоҷон», «Молия» ба ҷои садҳо ҷадвали беном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394956"/>
            <a:ext cx="10515600" cy="86868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5394956"/>
            <a:ext cx="82296" cy="868684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5541260"/>
            <a:ext cx="9921240" cy="5943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1" sz="1450">
                <a:solidFill>
                  <a:srgbClr val="066FD1"/>
                </a:solidFill>
                <a:latin typeface="Arial"/>
              </a:rPr>
              <a:t>Мисол.  </a:t>
            </a:r>
            <a:r>
              <a:rPr b="0" sz="1450" i="1">
                <a:solidFill>
                  <a:srgbClr val="22272E"/>
                </a:solidFill>
                <a:latin typeface="Arial"/>
              </a:rPr>
              <a:t>Бахши фурӯш танҳо файли Excel-и фармоишҳоро мекашаду мегузорад — пас аз як дақиқа ҷадвалҳо аллакай аз рӯи маъно гурӯҳбандӣ шудаанд, мутахассиси IT лозим нест.</a:t>
            </a:r>
          </a:p>
        </p:txBody>
      </p:sp>
      <p:pic>
        <p:nvPicPr>
          <p:cNvPr id="19" name="Picture 18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55664"/>
            <a:ext cx="239580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6384" y="6455664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939E"/>
                </a:solidFill>
                <a:latin typeface="Arial"/>
              </a:rPr>
              <a:t>Datavue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55664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939E"/>
                </a:solidFill>
                <a:latin typeface="Arial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00800"/>
            <a:ext cx="11183112" cy="1778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57200"/>
            <a:ext cx="3545586" cy="36576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ИМКОНИЯТИ 3 · НАМОИШИ МАЪЛУМОТ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272E"/>
                </a:solidFill>
                <a:latin typeface="Arial"/>
              </a:rPr>
              <a:t>Дашборд ва виджетҳо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4A4A4A"/>
                </a:solidFill>
                <a:latin typeface="Arial"/>
              </a:rPr>
              <a:t>Аз график ва корти KPI то харитаи гармӣ — бе ягон сатри код.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86584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10058400" cy="733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Зиёда аз 13 намуди график ва диаграмма — </a:t>
            </a:r>
            <a:r>
              <a:rPr b="0" sz="1550">
                <a:solidFill>
                  <a:srgbClr val="4A4A4A"/>
                </a:solidFill>
                <a:latin typeface="Arial"/>
              </a:rPr>
              <a:t>хатӣ, сутунӣ, доиравӣ, воронка, харита, харитаи гармӣ, корти KPI, ҷадвал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20390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065526"/>
            <a:ext cx="10058400" cy="733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Созандаи бе код — </a:t>
            </a:r>
            <a:r>
              <a:rPr b="0" sz="1550">
                <a:solidFill>
                  <a:srgbClr val="4A4A4A"/>
                </a:solidFill>
                <a:latin typeface="Arial"/>
              </a:rPr>
              <a:t>майдонҳоро интихоб кардӣ — графикро гирифтӣ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54196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799332"/>
            <a:ext cx="10058400" cy="733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SQL ва Python барои мутахассисон — </a:t>
            </a:r>
            <a:r>
              <a:rPr b="0" sz="1550">
                <a:solidFill>
                  <a:srgbClr val="4A4A4A"/>
                </a:solidFill>
                <a:latin typeface="Arial"/>
              </a:rPr>
              <a:t>дархост ё скрипти худ, агар мантиқи ғайристандартӣ лозим бошад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588002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533138"/>
            <a:ext cx="10058400" cy="733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Нусхаҳои дашборд — </a:t>
            </a:r>
            <a:r>
              <a:rPr b="0" sz="1550">
                <a:solidFill>
                  <a:srgbClr val="4A4A4A"/>
                </a:solidFill>
                <a:latin typeface="Arial"/>
              </a:rPr>
              <a:t>ҳар як тағйирот алоҳида нигоҳ дошта мешавад, кӯҳна гум намешавад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39496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394960"/>
            <a:ext cx="82296" cy="868680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5541264"/>
            <a:ext cx="9921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1" sz="1450">
                <a:solidFill>
                  <a:srgbClr val="066FD1"/>
                </a:solidFill>
                <a:latin typeface="Arial"/>
              </a:rPr>
              <a:t>Мисол.  </a:t>
            </a:r>
            <a:r>
              <a:rPr b="0" sz="1450" i="1">
                <a:solidFill>
                  <a:srgbClr val="22272E"/>
                </a:solidFill>
                <a:latin typeface="Arial"/>
              </a:rPr>
              <a:t>Мутахассиси маркетинг бо якчанд клик воронкаи фурӯшро аз рӯи марҳилаҳо месозад — дарҳол маълум мешавад, ки мизоҷон дар кадом марҳила гум мешаванд.</a:t>
            </a:r>
          </a:p>
        </p:txBody>
      </p:sp>
      <p:pic>
        <p:nvPicPr>
          <p:cNvPr id="17" name="Picture 16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55664"/>
            <a:ext cx="239580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6384" y="6455664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939E"/>
                </a:solidFill>
                <a:latin typeface="Arial"/>
              </a:rPr>
              <a:t>Datavue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55664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939E"/>
                </a:solidFill>
                <a:latin typeface="Arial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00800"/>
            <a:ext cx="11183112" cy="1778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57200"/>
            <a:ext cx="3021711" cy="36576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ИМКОНИЯТИ 4 · ТАШКИЛИ КОР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272E"/>
                </a:solidFill>
                <a:latin typeface="Arial"/>
              </a:rPr>
              <a:t>Фазоҳои корӣ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4A4A4A"/>
                </a:solidFill>
                <a:latin typeface="Arial"/>
              </a:rPr>
              <a:t>Як сарчашмаи маълумот, дашбордҳо ва сӯҳбат бо агент — якҷоя, барои як вазифа.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86584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Ҳама чиз дар як ҷо — </a:t>
            </a:r>
            <a:r>
              <a:rPr b="0" sz="1550">
                <a:solidFill>
                  <a:srgbClr val="4A4A4A"/>
                </a:solidFill>
                <a:latin typeface="Arial"/>
              </a:rPr>
              <a:t>маълумот, графикҳо ва мукотиба бо агент ба варақаҳои гуногун тақсим намешаванд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63824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10896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Гуфтугӯ дар назди худи дашборд — </a:t>
            </a:r>
            <a:r>
              <a:rPr b="0" sz="1550">
                <a:solidFill>
                  <a:srgbClr val="4A4A4A"/>
                </a:solidFill>
                <a:latin typeface="Arial"/>
              </a:rPr>
              <a:t>метавон хоҳиш кард, ки виджетро шарҳ диҳад ё ҳамон ҷо аз нав созад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41064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Якчанд нусха — </a:t>
            </a:r>
            <a:r>
              <a:rPr b="0" sz="1550">
                <a:solidFill>
                  <a:srgbClr val="4A4A4A"/>
                </a:solidFill>
                <a:latin typeface="Arial"/>
              </a:rPr>
              <a:t>метавон муқоиса кард, ки дашборд пештара чӣ гуна буду ҳоло чӣ гуна аст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791456"/>
            <a:ext cx="10515600" cy="147218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791456"/>
            <a:ext cx="82296" cy="1472184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937760"/>
            <a:ext cx="9921240" cy="1197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1" sz="1450">
                <a:solidFill>
                  <a:srgbClr val="066FD1"/>
                </a:solidFill>
                <a:latin typeface="Arial"/>
              </a:rPr>
              <a:t>Мисол.  </a:t>
            </a:r>
            <a:r>
              <a:rPr b="0" sz="1450" i="1">
                <a:solidFill>
                  <a:srgbClr val="22272E"/>
                </a:solidFill>
                <a:latin typeface="Arial"/>
              </a:rPr>
              <a:t>Фазои «Фурӯши Q3» як пойгоҳи маълумот, се нусхаи дашборд ва тамоми мукотибаро бо агент нигоҳ медорад — ҳеҷ чизро дар ҷойҳои гуногун ҷустуҷӯ кардан лозим нест.</a:t>
            </a:r>
          </a:p>
        </p:txBody>
      </p:sp>
      <p:pic>
        <p:nvPicPr>
          <p:cNvPr id="15" name="Picture 1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55664"/>
            <a:ext cx="239580" cy="2377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6384" y="6455664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939E"/>
                </a:solidFill>
                <a:latin typeface="Arial"/>
              </a:rPr>
              <a:t>Datavue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55664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939E"/>
                </a:solidFill>
                <a:latin typeface="Arial"/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00800"/>
            <a:ext cx="11183112" cy="1778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57200"/>
            <a:ext cx="2602611" cy="36576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ИМКОНИЯТИ 5 · НАЗОРАТ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272E"/>
                </a:solidFill>
                <a:latin typeface="Arial"/>
              </a:rPr>
              <a:t>Ҳушдорҳо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4A4A4A"/>
                </a:solidFill>
                <a:latin typeface="Arial"/>
              </a:rPr>
              <a:t>Платформа худаш нишондиҳандаҳоро назорат мекунаду хабар медиҳад, вақте ки чизе нодуруст шудааст.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86584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10058400" cy="587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Ҳар гуна шарт — </a:t>
            </a:r>
            <a:r>
              <a:rPr b="0" sz="1550">
                <a:solidFill>
                  <a:srgbClr val="4A4A4A"/>
                </a:solidFill>
                <a:latin typeface="Arial"/>
              </a:rPr>
              <a:t>созандаи бе код, дархости SQL ё скрипти Python-и худ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73628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918764"/>
            <a:ext cx="10058400" cy="587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Санҷиш аз рӯи ҷадвал — </a:t>
            </a:r>
            <a:r>
              <a:rPr b="0" sz="1550">
                <a:solidFill>
                  <a:srgbClr val="4A4A4A"/>
                </a:solidFill>
                <a:latin typeface="Arial"/>
              </a:rPr>
              <a:t>аз чанд дақиқа ва зиёдтар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60672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505808"/>
            <a:ext cx="10058400" cy="587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Огоҳинома ба кормандон ва почта — </a:t>
            </a:r>
            <a:r>
              <a:rPr b="0" sz="1550">
                <a:solidFill>
                  <a:srgbClr val="4A4A4A"/>
                </a:solidFill>
                <a:latin typeface="Arial"/>
              </a:rPr>
              <a:t>на танҳо дохили платформа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47716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092852"/>
            <a:ext cx="10058400" cy="587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Файли CSV бо тафсилот — </a:t>
            </a:r>
            <a:r>
              <a:rPr b="0" sz="1550">
                <a:solidFill>
                  <a:srgbClr val="4A4A4A"/>
                </a:solidFill>
                <a:latin typeface="Arial"/>
              </a:rPr>
              <a:t>ба мактуб дарҳол сатрҳое, ки боиси ҳушдор шудаанд, замима мешаванд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34760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679896"/>
            <a:ext cx="10058400" cy="587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Таърихи санҷишҳо — </a:t>
            </a:r>
            <a:r>
              <a:rPr b="0" sz="1550">
                <a:solidFill>
                  <a:srgbClr val="4A4A4A"/>
                </a:solidFill>
                <a:latin typeface="Arial"/>
              </a:rPr>
              <a:t>маълум аст, ки чӣ ва кай коргар шудааст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394956"/>
            <a:ext cx="10515600" cy="86868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5394956"/>
            <a:ext cx="82296" cy="868684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5541260"/>
            <a:ext cx="9921240" cy="5943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1" sz="1450">
                <a:solidFill>
                  <a:srgbClr val="066FD1"/>
                </a:solidFill>
                <a:latin typeface="Arial"/>
              </a:rPr>
              <a:t>Мисол.  </a:t>
            </a:r>
            <a:r>
              <a:rPr b="0" sz="1450" i="1">
                <a:solidFill>
                  <a:srgbClr val="22272E"/>
                </a:solidFill>
                <a:latin typeface="Arial"/>
              </a:rPr>
              <a:t>Директори молиявӣ қоидаро танзим мекунад: «агар маблағи баргардонидашуда дар як рӯз аз $5000 зиёд шавад, хабар деҳ». Ҳамин ки ин рӯй медиҳад — мактуб бо сатрҳои коргаршуда аллакай дар почтаи ӯст.</a:t>
            </a:r>
          </a:p>
        </p:txBody>
      </p:sp>
      <p:pic>
        <p:nvPicPr>
          <p:cNvPr id="19" name="Picture 18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55664"/>
            <a:ext cx="239580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6384" y="6455664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939E"/>
                </a:solidFill>
                <a:latin typeface="Arial"/>
              </a:rPr>
              <a:t>Datavue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55664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939E"/>
                </a:solidFill>
                <a:latin typeface="Arial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00800"/>
            <a:ext cx="11183112" cy="1778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57200"/>
            <a:ext cx="2602611" cy="36576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ИМКОНИЯТИ 6 · ҲИСОБОТ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272E"/>
                </a:solidFill>
                <a:latin typeface="Arial"/>
              </a:rPr>
              <a:t>Содироти файл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4A4A4A"/>
                </a:solidFill>
                <a:latin typeface="Arial"/>
              </a:rPr>
              <a:t>Файлро бевосита дар чат дархост кунед — платформа худаш онро тайёр мекунад.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86584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10058400" cy="733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Чор формат — </a:t>
            </a:r>
            <a:r>
              <a:rPr b="0" sz="1550">
                <a:solidFill>
                  <a:srgbClr val="4A4A4A"/>
                </a:solidFill>
                <a:latin typeface="Arial"/>
              </a:rPr>
              <a:t>CSV, Excel, PDF, Word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20390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065526"/>
            <a:ext cx="10058400" cy="733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Як ҷумлаи оддӣ — </a:t>
            </a:r>
            <a:r>
              <a:rPr b="0" sz="1550">
                <a:solidFill>
                  <a:srgbClr val="4A4A4A"/>
                </a:solidFill>
                <a:latin typeface="Arial"/>
              </a:rPr>
              <a:t>«10 мизоҷи беҳтаринро дар Excel нигоҳ дор» — ва файл тайёр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54196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799332"/>
            <a:ext cx="10058400" cy="733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Истинод дарҳол дар мукотиба — </a:t>
            </a:r>
            <a:r>
              <a:rPr b="0" sz="1550">
                <a:solidFill>
                  <a:srgbClr val="4A4A4A"/>
                </a:solidFill>
                <a:latin typeface="Arial"/>
              </a:rPr>
              <a:t>ҳар кас, ки онро гирифтааст, метавонад боргирӣ кунад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588002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533138"/>
            <a:ext cx="10058400" cy="733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Таърихи содирот — </a:t>
            </a:r>
            <a:r>
              <a:rPr b="0" sz="1550">
                <a:solidFill>
                  <a:srgbClr val="4A4A4A"/>
                </a:solidFill>
                <a:latin typeface="Arial"/>
              </a:rPr>
              <a:t>файлҳои гузашта ҳамеша дастрасанд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39496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394960"/>
            <a:ext cx="82296" cy="868680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5541264"/>
            <a:ext cx="9921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1" sz="1450">
                <a:solidFill>
                  <a:srgbClr val="066FD1"/>
                </a:solidFill>
                <a:latin typeface="Arial"/>
              </a:rPr>
              <a:t>Мисол.  </a:t>
            </a:r>
            <a:r>
              <a:rPr b="0" sz="1450" i="1">
                <a:solidFill>
                  <a:srgbClr val="22272E"/>
                </a:solidFill>
                <a:latin typeface="Arial"/>
              </a:rPr>
              <a:t>Пеш аз вохӯрӣ бо сармоягузор менеҷер аз агент хоҳиш мекунад, ки ҳисоботи PDF оид ба даромадро тайёр кунад — файл дар якчанд сония тайёр мешавад, дар Excel дастӣ ҳисоб кардан лозим намеояд.</a:t>
            </a:r>
          </a:p>
        </p:txBody>
      </p:sp>
      <p:pic>
        <p:nvPicPr>
          <p:cNvPr id="17" name="Picture 16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55664"/>
            <a:ext cx="239580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6384" y="6455664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939E"/>
                </a:solidFill>
                <a:latin typeface="Arial"/>
              </a:rPr>
              <a:t>Datavue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55664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939E"/>
                </a:solidFill>
                <a:latin typeface="Arial"/>
              </a:rPr>
              <a:t>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00800"/>
            <a:ext cx="11183112" cy="1778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57200"/>
            <a:ext cx="2393061" cy="36576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ИМКОНИЯТИ 7 · ГУРӮҲ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272E"/>
                </a:solidFill>
                <a:latin typeface="Arial"/>
              </a:rPr>
              <a:t>Нақш ва дастрасӣ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4A4A4A"/>
                </a:solidFill>
                <a:latin typeface="Arial"/>
              </a:rPr>
              <a:t>Ҳар корманд маҳз ҳамон дастрасиеро дорад, ки барои кораш лозим аст.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86584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42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10058400" cy="587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Администратор — </a:t>
            </a:r>
            <a:r>
              <a:rPr b="0" sz="1550">
                <a:solidFill>
                  <a:srgbClr val="4A4A4A"/>
                </a:solidFill>
                <a:latin typeface="Arial"/>
              </a:rPr>
              <a:t>дастрасии пурра, кормандону ҳуқуқҳоро идора мекунад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73628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42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918764"/>
            <a:ext cx="10058400" cy="587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Таҳлилгар — </a:t>
            </a:r>
            <a:r>
              <a:rPr b="0" sz="1550">
                <a:solidFill>
                  <a:srgbClr val="4A4A4A"/>
                </a:solidFill>
                <a:latin typeface="Arial"/>
              </a:rPr>
              <a:t>дашборд месозад, сарчашмаҳоро пайваст мекунад, чатҳоро пеш мебарад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60672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42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505808"/>
            <a:ext cx="10058400" cy="587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Нозир — </a:t>
            </a:r>
            <a:r>
              <a:rPr b="0" sz="1550">
                <a:solidFill>
                  <a:srgbClr val="4A4A4A"/>
                </a:solidFill>
                <a:latin typeface="Arial"/>
              </a:rPr>
              <a:t>танҳо дидани дашбордҳои тайёр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47716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42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092852"/>
            <a:ext cx="10058400" cy="587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Директор — </a:t>
            </a:r>
            <a:r>
              <a:rPr b="0" sz="1550">
                <a:solidFill>
                  <a:srgbClr val="4A4A4A"/>
                </a:solidFill>
                <a:latin typeface="Arial"/>
              </a:rPr>
              <a:t>реҷаи махсуси сода: танҳо чат бо ҳуши сунъӣ ва дашбордҳои тайёр, бе танзимот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34760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42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679896"/>
            <a:ext cx="10058400" cy="587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50">
                <a:solidFill>
                  <a:srgbClr val="22272E"/>
                </a:solidFill>
                <a:latin typeface="Arial"/>
              </a:rPr>
              <a:t>Ҳуқуқҳои махсус — </a:t>
            </a:r>
            <a:r>
              <a:rPr b="0" sz="1550">
                <a:solidFill>
                  <a:srgbClr val="4A4A4A"/>
                </a:solidFill>
                <a:latin typeface="Arial"/>
              </a:rPr>
              <a:t>дастрасӣ бо аломатгузорӣ барои корманди мушаххас танзим карда мешавад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394956"/>
            <a:ext cx="10515600" cy="86868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5394956"/>
            <a:ext cx="82296" cy="868684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5541260"/>
            <a:ext cx="9921240" cy="5943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1" sz="1450">
                <a:solidFill>
                  <a:srgbClr val="066FD1"/>
                </a:solidFill>
                <a:latin typeface="Arial"/>
              </a:rPr>
              <a:t>Мисол.  </a:t>
            </a:r>
            <a:r>
              <a:rPr b="0" sz="1450" i="1">
                <a:solidFill>
                  <a:srgbClr val="22272E"/>
                </a:solidFill>
                <a:latin typeface="Arial"/>
              </a:rPr>
              <a:t>Директори ширкат Datavue-ро мекушояд ва танҳо чатро мебинад: мепурсад «вазъи фурӯш чӣ хел аст» — ва дарҳол дашборди тайёрро мегирад, бидуни он ки ба танзимоти изофӣ парешон шавад.</a:t>
            </a:r>
          </a:p>
        </p:txBody>
      </p:sp>
      <p:pic>
        <p:nvPicPr>
          <p:cNvPr id="19" name="Picture 18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55664"/>
            <a:ext cx="239580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6384" y="6455664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939E"/>
                </a:solidFill>
                <a:latin typeface="Arial"/>
              </a:rPr>
              <a:t>Datavue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55664"/>
            <a:ext cx="5486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8A939E"/>
                </a:solidFill>
                <a:latin typeface="Arial"/>
              </a:rPr>
              <a:t>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00800"/>
            <a:ext cx="11183112" cy="1778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-2743200"/>
            <a:ext cx="5120640" cy="512064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4023360"/>
            <a:ext cx="5120640" cy="512064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6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927" y="1600200"/>
            <a:ext cx="1013607" cy="100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28803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22272E"/>
                </a:solidFill>
                <a:latin typeface="Arial"/>
              </a:rPr>
              <a:t>Ташаккур барои диққататон!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03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1">
                <a:solidFill>
                  <a:srgbClr val="066FD1"/>
                </a:solidFill>
                <a:latin typeface="Arial"/>
              </a:rPr>
              <a:t>Datavue — тамоми таҳлили тиҷорат дар як чат.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8A939E"/>
                </a:solidFill>
                <a:latin typeface="Arial"/>
              </a:rPr>
              <a:t>Азим Раупов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