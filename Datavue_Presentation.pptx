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C0E91E8-7D3A-43EA-942A-0FA183B8FE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3F90BBF-C56B-4C07-9F83-95ACFB0D84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419752A-0280-4935-B616-FA02D1D12C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7D753E6-391F-422C-90DD-328B23CFA5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E142BA8-379D-4A9C-97B7-177D3720DE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425F083-61F1-4E4E-BF2B-27B94E04A7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D0556F3-46F6-4879-9E7C-79E37A0B138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84D917B-C3A4-40CE-8BF1-2AF6D26286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E924645-87D8-4434-94BD-81F3AF99F8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A4C9E25-7E2A-4808-8A61-4C0E8A8B56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D8309A0-5620-4703-821C-D58291F851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val 1"/>
          <p:cNvSpPr/>
          <p:nvPr/>
        </p:nvSpPr>
        <p:spPr>
          <a:xfrm>
            <a:off x="9966960" y="-2377440"/>
            <a:ext cx="5485680" cy="5485680"/>
          </a:xfrm>
          <a:prstGeom prst="ellipse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Oval 2"/>
          <p:cNvSpPr/>
          <p:nvPr/>
        </p:nvSpPr>
        <p:spPr>
          <a:xfrm>
            <a:off x="-2743200" y="4480560"/>
            <a:ext cx="5119920" cy="5119920"/>
          </a:xfrm>
          <a:prstGeom prst="ellipse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0" y="0"/>
            <a:ext cx="12191040" cy="14544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0" y="6711840"/>
            <a:ext cx="12191040" cy="14544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Rounded Rectangle 5"/>
          <p:cNvSpPr/>
          <p:nvPr/>
        </p:nvSpPr>
        <p:spPr>
          <a:xfrm>
            <a:off x="5139000" y="960120"/>
            <a:ext cx="2392200" cy="36504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0" rIns="2556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ПРЕЗЕНТАЦИЯ ПРОЕКТА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1097280" y="1554480"/>
            <a:ext cx="10057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Привет, я Азим Раупов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7" descr="logo.png"/>
          <p:cNvPicPr/>
          <p:nvPr/>
        </p:nvPicPr>
        <p:blipFill>
          <a:blip r:embed="rId1"/>
          <a:stretch/>
        </p:blipFill>
        <p:spPr>
          <a:xfrm>
            <a:off x="3627000" y="2514600"/>
            <a:ext cx="4937040" cy="144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8"/>
          <p:cNvSpPr/>
          <p:nvPr/>
        </p:nvSpPr>
        <p:spPr>
          <a:xfrm>
            <a:off x="1097280" y="4277520"/>
            <a:ext cx="10057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066FD1"/>
                </a:solidFill>
                <a:effectLst/>
                <a:uFillTx/>
                <a:latin typeface="Arial"/>
              </a:rPr>
              <a:t>Платформа визуализации данных и аналитики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1097280" y="4871880"/>
            <a:ext cx="10057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BI-инструменты, которые облегчают аналитику бизнеса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Picture 3" descr="C:\Users\user\Desktop\лого2022.PNG"/>
          <p:cNvPicPr/>
          <p:nvPr/>
        </p:nvPicPr>
        <p:blipFill>
          <a:blip r:embed="rId2"/>
          <a:stretch/>
        </p:blipFill>
        <p:spPr>
          <a:xfrm>
            <a:off x="8112240" y="193680"/>
            <a:ext cx="3227760" cy="932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"/>
          <p:cNvPicPr/>
          <p:nvPr/>
        </p:nvPicPr>
        <p:blipFill>
          <a:blip r:embed="rId1"/>
          <a:stretch/>
        </p:blipFill>
        <p:spPr>
          <a:xfrm>
            <a:off x="18000" y="12240"/>
            <a:ext cx="1217232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/>
          <p:cNvPicPr/>
          <p:nvPr/>
        </p:nvPicPr>
        <p:blipFill>
          <a:blip r:embed="rId1"/>
          <a:stretch/>
        </p:blipFill>
        <p:spPr>
          <a:xfrm>
            <a:off x="8280" y="601920"/>
            <a:ext cx="12191760" cy="6518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"/>
          <p:cNvPicPr/>
          <p:nvPr/>
        </p:nvPicPr>
        <p:blipFill>
          <a:blip r:embed="rId1"/>
          <a:stretch/>
        </p:blipFill>
        <p:spPr>
          <a:xfrm>
            <a:off x="18000" y="12240"/>
            <a:ext cx="1217232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ounded Rectangle 2"/>
          <p:cNvSpPr/>
          <p:nvPr/>
        </p:nvSpPr>
        <p:spPr>
          <a:xfrm>
            <a:off x="822960" y="502920"/>
            <a:ext cx="1344600" cy="36504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0" rIns="2556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О ПРОЕКТЕ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822960" y="960120"/>
            <a:ext cx="10514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Зачем нужен Datavue</a:t>
            </a:r>
            <a:endParaRPr lang="ru-RU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822960" y="1783080"/>
            <a:ext cx="105148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7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Datavue — это BI-платформа, которая даёт компании все инструменты для аналитики данных в одном месте. Это не замена аналитику, а инструменты для него и всей команды: подключить базу, построить график или получить ответ на вопрос о бизнесе можно, просто спросив обычными словами.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5"/>
          <p:cNvSpPr/>
          <p:nvPr/>
        </p:nvSpPr>
        <p:spPr>
          <a:xfrm>
            <a:off x="822960" y="3429000"/>
            <a:ext cx="2541240" cy="2331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ectangle 6"/>
          <p:cNvSpPr/>
          <p:nvPr/>
        </p:nvSpPr>
        <p:spPr>
          <a:xfrm>
            <a:off x="822960" y="3429000"/>
            <a:ext cx="2541240" cy="8172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Oval 7"/>
          <p:cNvSpPr/>
          <p:nvPr/>
        </p:nvSpPr>
        <p:spPr>
          <a:xfrm>
            <a:off x="1078920" y="3740040"/>
            <a:ext cx="456480" cy="456480"/>
          </a:xfrm>
          <a:prstGeom prst="ellipse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8"/>
          <p:cNvSpPr/>
          <p:nvPr/>
        </p:nvSpPr>
        <p:spPr>
          <a:xfrm>
            <a:off x="1078920" y="4389120"/>
            <a:ext cx="2029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Подключить данные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9"/>
          <p:cNvSpPr/>
          <p:nvPr/>
        </p:nvSpPr>
        <p:spPr>
          <a:xfrm>
            <a:off x="1078920" y="5029200"/>
            <a:ext cx="2029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2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любой файл или база — за минуту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10"/>
          <p:cNvSpPr/>
          <p:nvPr/>
        </p:nvSpPr>
        <p:spPr>
          <a:xfrm>
            <a:off x="3566160" y="3429000"/>
            <a:ext cx="2541240" cy="2331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ectangle 11"/>
          <p:cNvSpPr/>
          <p:nvPr/>
        </p:nvSpPr>
        <p:spPr>
          <a:xfrm>
            <a:off x="3566160" y="3429000"/>
            <a:ext cx="2541240" cy="8172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Oval 12"/>
          <p:cNvSpPr/>
          <p:nvPr/>
        </p:nvSpPr>
        <p:spPr>
          <a:xfrm>
            <a:off x="3822120" y="3740040"/>
            <a:ext cx="456480" cy="456480"/>
          </a:xfrm>
          <a:prstGeom prst="ellipse">
            <a:avLst/>
          </a:prstGeom>
          <a:solidFill>
            <a:srgbClr val="F7670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3"/>
          <p:cNvSpPr/>
          <p:nvPr/>
        </p:nvSpPr>
        <p:spPr>
          <a:xfrm>
            <a:off x="3822120" y="4389120"/>
            <a:ext cx="2029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Спросить и получить ответ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4"/>
          <p:cNvSpPr/>
          <p:nvPr/>
        </p:nvSpPr>
        <p:spPr>
          <a:xfrm>
            <a:off x="3822120" y="5029200"/>
            <a:ext cx="2029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2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быстрый ответ на вопрос о данных — прямо в чате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5"/>
          <p:cNvSpPr/>
          <p:nvPr/>
        </p:nvSpPr>
        <p:spPr>
          <a:xfrm>
            <a:off x="6309360" y="3429000"/>
            <a:ext cx="2541240" cy="2331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16"/>
          <p:cNvSpPr/>
          <p:nvPr/>
        </p:nvSpPr>
        <p:spPr>
          <a:xfrm>
            <a:off x="6309360" y="3429000"/>
            <a:ext cx="2541240" cy="8172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Oval 17"/>
          <p:cNvSpPr/>
          <p:nvPr/>
        </p:nvSpPr>
        <p:spPr>
          <a:xfrm>
            <a:off x="6565320" y="3740040"/>
            <a:ext cx="456480" cy="456480"/>
          </a:xfrm>
          <a:prstGeom prst="ellipse">
            <a:avLst/>
          </a:prstGeom>
          <a:solidFill>
            <a:srgbClr val="0CA6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18"/>
          <p:cNvSpPr/>
          <p:nvPr/>
        </p:nvSpPr>
        <p:spPr>
          <a:xfrm>
            <a:off x="6565320" y="4389120"/>
            <a:ext cx="2029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Увидеть картину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9"/>
          <p:cNvSpPr/>
          <p:nvPr/>
        </p:nvSpPr>
        <p:spPr>
          <a:xfrm>
            <a:off x="6565320" y="5029200"/>
            <a:ext cx="2029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2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дашборды и графики без единой строчки кода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20"/>
          <p:cNvSpPr/>
          <p:nvPr/>
        </p:nvSpPr>
        <p:spPr>
          <a:xfrm>
            <a:off x="9052560" y="3429000"/>
            <a:ext cx="2541240" cy="2331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ectangle 21"/>
          <p:cNvSpPr/>
          <p:nvPr/>
        </p:nvSpPr>
        <p:spPr>
          <a:xfrm>
            <a:off x="9052560" y="3429000"/>
            <a:ext cx="2541240" cy="8172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Oval 22"/>
          <p:cNvSpPr/>
          <p:nvPr/>
        </p:nvSpPr>
        <p:spPr>
          <a:xfrm>
            <a:off x="9308520" y="3740040"/>
            <a:ext cx="456480" cy="456480"/>
          </a:xfrm>
          <a:prstGeom prst="ellipse">
            <a:avLst/>
          </a:prstGeom>
          <a:solidFill>
            <a:srgbClr val="D6336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23"/>
          <p:cNvSpPr/>
          <p:nvPr/>
        </p:nvSpPr>
        <p:spPr>
          <a:xfrm>
            <a:off x="9308520" y="4389120"/>
            <a:ext cx="2029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Не пропустить важное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4"/>
          <p:cNvSpPr/>
          <p:nvPr/>
        </p:nvSpPr>
        <p:spPr>
          <a:xfrm>
            <a:off x="9308520" y="5029200"/>
            <a:ext cx="2029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2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алерты сами предупредят о проблеме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6"/>
          <p:cNvSpPr/>
          <p:nvPr/>
        </p:nvSpPr>
        <p:spPr>
          <a:xfrm>
            <a:off x="786240" y="645552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7"/>
          <p:cNvSpPr/>
          <p:nvPr/>
        </p:nvSpPr>
        <p:spPr>
          <a:xfrm>
            <a:off x="11338560" y="6455520"/>
            <a:ext cx="54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A939E"/>
                </a:solidFill>
                <a:effectLst/>
                <a:uFillTx/>
                <a:latin typeface="Arial"/>
              </a:rPr>
              <a:t>2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Picture 3" descr="C:\Users\user\Desktop\лого2022.PNG"/>
          <p:cNvPicPr/>
          <p:nvPr/>
        </p:nvPicPr>
        <p:blipFill>
          <a:blip r:embed="rId1"/>
          <a:stretch/>
        </p:blipFill>
        <p:spPr>
          <a:xfrm>
            <a:off x="8472240" y="219240"/>
            <a:ext cx="3227760" cy="932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ounded Rectangle 2"/>
          <p:cNvSpPr/>
          <p:nvPr/>
        </p:nvSpPr>
        <p:spPr>
          <a:xfrm>
            <a:off x="822960" y="457200"/>
            <a:ext cx="3125880" cy="36504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0" rIns="2556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ФУНКЦИЯ 1 · ЯДРО ПЛАТФОРМЫ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822960" y="914400"/>
            <a:ext cx="10514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Чат с ИИ-агентом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822960" y="1572840"/>
            <a:ext cx="10514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Общаетесь с данными обычными словами — агент сам решает, что нужно сделать.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5"/>
          <p:cNvSpPr/>
          <p:nvPr/>
        </p:nvSpPr>
        <p:spPr>
          <a:xfrm>
            <a:off x="822960" y="238644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6"/>
          <p:cNvSpPr/>
          <p:nvPr/>
        </p:nvSpPr>
        <p:spPr>
          <a:xfrm>
            <a:off x="1234440" y="2331720"/>
            <a:ext cx="1005768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Понимает намерение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сам определяет: ответить в чате, построить дашборд или выгрузить файл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7"/>
          <p:cNvSpPr/>
          <p:nvPr/>
        </p:nvSpPr>
        <p:spPr>
          <a:xfrm>
            <a:off x="822960" y="312048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8"/>
          <p:cNvSpPr/>
          <p:nvPr/>
        </p:nvSpPr>
        <p:spPr>
          <a:xfrm>
            <a:off x="1234440" y="3065400"/>
            <a:ext cx="1005768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Отвечает только фактами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сам пишет и выполняет SQL-запрос к вашим данным, а не выдумывает цифры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9"/>
          <p:cNvSpPr/>
          <p:nvPr/>
        </p:nvSpPr>
        <p:spPr>
          <a:xfrm>
            <a:off x="822960" y="385416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0"/>
          <p:cNvSpPr/>
          <p:nvPr/>
        </p:nvSpPr>
        <p:spPr>
          <a:xfrm>
            <a:off x="1234440" y="3799440"/>
            <a:ext cx="1005768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Строит и меняет дашборды по фразе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«собери дашборд по продажам за 2025 год»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11"/>
          <p:cNvSpPr/>
          <p:nvPr/>
        </p:nvSpPr>
        <p:spPr>
          <a:xfrm>
            <a:off x="822960" y="458784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2"/>
          <p:cNvSpPr/>
          <p:nvPr/>
        </p:nvSpPr>
        <p:spPr>
          <a:xfrm>
            <a:off x="1234440" y="4533120"/>
            <a:ext cx="1005768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Помнит разговор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понимает короткие ответы вроде «давай» или «не такой график»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13"/>
          <p:cNvSpPr/>
          <p:nvPr/>
        </p:nvSpPr>
        <p:spPr>
          <a:xfrm>
            <a:off x="822960" y="5394960"/>
            <a:ext cx="10514880" cy="867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14"/>
          <p:cNvSpPr/>
          <p:nvPr/>
        </p:nvSpPr>
        <p:spPr>
          <a:xfrm>
            <a:off x="822960" y="5394960"/>
            <a:ext cx="81720" cy="86796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45000" rIns="410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5"/>
          <p:cNvSpPr/>
          <p:nvPr/>
        </p:nvSpPr>
        <p:spPr>
          <a:xfrm>
            <a:off x="1170360" y="5541120"/>
            <a:ext cx="9920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0000"/>
              </a:lnSpc>
            </a:pPr>
            <a:r>
              <a:rPr lang="en-US" sz="1450" b="1" u="none" strike="noStrike">
                <a:solidFill>
                  <a:srgbClr val="066FD1"/>
                </a:solidFill>
                <a:effectLst/>
                <a:uFillTx/>
                <a:latin typeface="Arial"/>
              </a:rPr>
              <a:t>Пример.  </a:t>
            </a:r>
            <a:r>
              <a:rPr lang="en-US" sz="1450" b="0" i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Спросите «Сколько заказов было в марте и кто топ-5 клиентов?» — агент сам найдёт нужные таблицы, посчитает и ответит текстом с точными цифрами.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7"/>
          <p:cNvSpPr/>
          <p:nvPr/>
        </p:nvSpPr>
        <p:spPr>
          <a:xfrm>
            <a:off x="786240" y="645552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8"/>
          <p:cNvSpPr/>
          <p:nvPr/>
        </p:nvSpPr>
        <p:spPr>
          <a:xfrm>
            <a:off x="11338560" y="6455520"/>
            <a:ext cx="54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A939E"/>
                </a:solidFill>
                <a:effectLst/>
                <a:uFillTx/>
                <a:latin typeface="Arial"/>
              </a:rPr>
              <a:t>3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Picture 3" descr="C:\Users\user\Desktop\лого2022.PNG"/>
          <p:cNvPicPr/>
          <p:nvPr/>
        </p:nvPicPr>
        <p:blipFill>
          <a:blip r:embed="rId1"/>
          <a:stretch/>
        </p:blipFill>
        <p:spPr>
          <a:xfrm>
            <a:off x="8472240" y="219240"/>
            <a:ext cx="3227760" cy="932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ounded Rectangle 2"/>
          <p:cNvSpPr/>
          <p:nvPr/>
        </p:nvSpPr>
        <p:spPr>
          <a:xfrm>
            <a:off x="822960" y="457200"/>
            <a:ext cx="2287440" cy="36504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0" rIns="2556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ФУНКЦИЯ 2 · ДАННЫЕ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822960" y="914400"/>
            <a:ext cx="10514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Источники данных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822960" y="1572840"/>
            <a:ext cx="10514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Любые данные компании — в одном месте, без ручной подготовки.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5"/>
          <p:cNvSpPr/>
          <p:nvPr/>
        </p:nvSpPr>
        <p:spPr>
          <a:xfrm>
            <a:off x="822960" y="238644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F7670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1234440" y="2331720"/>
            <a:ext cx="100576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Файлы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CSV и Excel: заголовки, типы колонок и структура распознаются автоматически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7"/>
          <p:cNvSpPr/>
          <p:nvPr/>
        </p:nvSpPr>
        <p:spPr>
          <a:xfrm>
            <a:off x="822960" y="297360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F7670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8"/>
          <p:cNvSpPr/>
          <p:nvPr/>
        </p:nvSpPr>
        <p:spPr>
          <a:xfrm>
            <a:off x="1234440" y="2918880"/>
            <a:ext cx="100576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Готовые базы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SQLite-файл или SQL-дамп MySQL импортируется сам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9"/>
          <p:cNvSpPr/>
          <p:nvPr/>
        </p:nvSpPr>
        <p:spPr>
          <a:xfrm>
            <a:off x="822960" y="356076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F7670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1234440" y="3505680"/>
            <a:ext cx="100576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Живое подключение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MySQL, PostgreSQL, SQLite по логину и паролю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11"/>
          <p:cNvSpPr/>
          <p:nvPr/>
        </p:nvSpPr>
        <p:spPr>
          <a:xfrm>
            <a:off x="822960" y="414756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F7670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12"/>
          <p:cNvSpPr/>
          <p:nvPr/>
        </p:nvSpPr>
        <p:spPr>
          <a:xfrm>
            <a:off x="1234440" y="4092840"/>
            <a:ext cx="100576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Google Таблицы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данные забираются прямо по ссылке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13"/>
          <p:cNvSpPr/>
          <p:nvPr/>
        </p:nvSpPr>
        <p:spPr>
          <a:xfrm>
            <a:off x="822960" y="473472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F7670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14"/>
          <p:cNvSpPr/>
          <p:nvPr/>
        </p:nvSpPr>
        <p:spPr>
          <a:xfrm>
            <a:off x="1234440" y="4680000"/>
            <a:ext cx="100576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ИИ сам раскладывает таблицы по смыслу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«Продажи», «Клиенты», «Финансы» вместо сотен безымянных таблиц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15"/>
          <p:cNvSpPr/>
          <p:nvPr/>
        </p:nvSpPr>
        <p:spPr>
          <a:xfrm>
            <a:off x="822960" y="5394960"/>
            <a:ext cx="10514880" cy="867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Rectangle 16"/>
          <p:cNvSpPr/>
          <p:nvPr/>
        </p:nvSpPr>
        <p:spPr>
          <a:xfrm>
            <a:off x="822960" y="5394960"/>
            <a:ext cx="81720" cy="86796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45000" rIns="410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17"/>
          <p:cNvSpPr/>
          <p:nvPr/>
        </p:nvSpPr>
        <p:spPr>
          <a:xfrm>
            <a:off x="1170360" y="5541120"/>
            <a:ext cx="9920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0000"/>
              </a:lnSpc>
            </a:pPr>
            <a:r>
              <a:rPr lang="en-US" sz="1450" b="1" u="none" strike="noStrike">
                <a:solidFill>
                  <a:srgbClr val="066FD1"/>
                </a:solidFill>
                <a:effectLst/>
                <a:uFillTx/>
                <a:latin typeface="Arial"/>
              </a:rPr>
              <a:t>Пример.  </a:t>
            </a:r>
            <a:r>
              <a:rPr lang="en-US" sz="1450" b="0" i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Отдел продаж просто перетаскивает Excel с заказами — через минуту таблицы уже разложены по смысловым группам, айтишники не нужны.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9"/>
          <p:cNvSpPr/>
          <p:nvPr/>
        </p:nvSpPr>
        <p:spPr>
          <a:xfrm>
            <a:off x="786240" y="6499080"/>
            <a:ext cx="18280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20"/>
          <p:cNvSpPr/>
          <p:nvPr/>
        </p:nvSpPr>
        <p:spPr>
          <a:xfrm>
            <a:off x="11338560" y="6455520"/>
            <a:ext cx="54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A939E"/>
                </a:solidFill>
                <a:effectLst/>
                <a:uFillTx/>
                <a:latin typeface="Arial"/>
              </a:rPr>
              <a:t>4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Picture 3" descr="C:\Users\user\Desktop\лого2022.PNG"/>
          <p:cNvPicPr/>
          <p:nvPr/>
        </p:nvPicPr>
        <p:blipFill>
          <a:blip r:embed="rId1"/>
          <a:stretch/>
        </p:blipFill>
        <p:spPr>
          <a:xfrm>
            <a:off x="8472240" y="219240"/>
            <a:ext cx="3227760" cy="932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ounded Rectangle 2"/>
          <p:cNvSpPr/>
          <p:nvPr/>
        </p:nvSpPr>
        <p:spPr>
          <a:xfrm>
            <a:off x="822960" y="457200"/>
            <a:ext cx="2916360" cy="36504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0" rIns="2556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ФУНКЦИЯ 3 · ВИЗУАЛИЗАЦИЯ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3"/>
          <p:cNvSpPr/>
          <p:nvPr/>
        </p:nvSpPr>
        <p:spPr>
          <a:xfrm>
            <a:off x="822960" y="914400"/>
            <a:ext cx="10514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Дашборды и виджеты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822960" y="1572840"/>
            <a:ext cx="10514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От графиков и KPI-карточек до тепловых карт — без единой строчки кода.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5"/>
          <p:cNvSpPr/>
          <p:nvPr/>
        </p:nvSpPr>
        <p:spPr>
          <a:xfrm>
            <a:off x="822960" y="238644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0CA6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1234440" y="2331720"/>
            <a:ext cx="10057680" cy="53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tg-Cyrl-TJ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35</a:t>
            </a: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+ типов визуализации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линии, столбцы, круговые, воронки, карты, тепловые карты, KPI-карточки, таблицы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7"/>
          <p:cNvSpPr/>
          <p:nvPr/>
        </p:nvSpPr>
        <p:spPr>
          <a:xfrm>
            <a:off x="822960" y="312048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0CA6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8"/>
          <p:cNvSpPr/>
          <p:nvPr/>
        </p:nvSpPr>
        <p:spPr>
          <a:xfrm>
            <a:off x="1234440" y="3065400"/>
            <a:ext cx="1005768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Конструктор без кода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выбрал поля — получил график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9"/>
          <p:cNvSpPr/>
          <p:nvPr/>
        </p:nvSpPr>
        <p:spPr>
          <a:xfrm>
            <a:off x="822960" y="385416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0CA6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10"/>
          <p:cNvSpPr/>
          <p:nvPr/>
        </p:nvSpPr>
        <p:spPr>
          <a:xfrm>
            <a:off x="1234440" y="3799440"/>
            <a:ext cx="1005768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SQL и Python для профи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свой запрос или скрипт, если нужна нестандартная логика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11"/>
          <p:cNvSpPr/>
          <p:nvPr/>
        </p:nvSpPr>
        <p:spPr>
          <a:xfrm>
            <a:off x="822960" y="458784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0CA6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12"/>
          <p:cNvSpPr/>
          <p:nvPr/>
        </p:nvSpPr>
        <p:spPr>
          <a:xfrm>
            <a:off x="1234440" y="4533120"/>
            <a:ext cx="1005768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Версии дашборда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каждая перестройка сохраняется отдельно, старое не теряется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13"/>
          <p:cNvSpPr/>
          <p:nvPr/>
        </p:nvSpPr>
        <p:spPr>
          <a:xfrm>
            <a:off x="822960" y="5394960"/>
            <a:ext cx="10514880" cy="867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Rectangle 14"/>
          <p:cNvSpPr/>
          <p:nvPr/>
        </p:nvSpPr>
        <p:spPr>
          <a:xfrm>
            <a:off x="822960" y="5394960"/>
            <a:ext cx="81720" cy="86796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45000" rIns="410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15"/>
          <p:cNvSpPr/>
          <p:nvPr/>
        </p:nvSpPr>
        <p:spPr>
          <a:xfrm>
            <a:off x="1170360" y="5541120"/>
            <a:ext cx="9920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0000"/>
              </a:lnSpc>
            </a:pPr>
            <a:r>
              <a:rPr lang="en-US" sz="1450" b="1" u="none" strike="noStrike">
                <a:solidFill>
                  <a:srgbClr val="066FD1"/>
                </a:solidFill>
                <a:effectLst/>
                <a:uFillTx/>
                <a:latin typeface="Arial"/>
              </a:rPr>
              <a:t>Пример.  </a:t>
            </a:r>
            <a:r>
              <a:rPr lang="en-US" sz="1450" b="0" i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Маркетолог за пару кликов собирает воронку продаж по этапам — сразу видно, на каком шаге теряются клиенты.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17"/>
          <p:cNvSpPr/>
          <p:nvPr/>
        </p:nvSpPr>
        <p:spPr>
          <a:xfrm>
            <a:off x="786240" y="645552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8"/>
          <p:cNvSpPr/>
          <p:nvPr/>
        </p:nvSpPr>
        <p:spPr>
          <a:xfrm>
            <a:off x="11338560" y="6455520"/>
            <a:ext cx="54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A939E"/>
                </a:solidFill>
                <a:effectLst/>
                <a:uFillTx/>
                <a:latin typeface="Arial"/>
              </a:rPr>
              <a:t>5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Picture 3" descr="C:\Users\user\Desktop\лого2022.PNG"/>
          <p:cNvPicPr/>
          <p:nvPr/>
        </p:nvPicPr>
        <p:blipFill>
          <a:blip r:embed="rId1"/>
          <a:stretch/>
        </p:blipFill>
        <p:spPr>
          <a:xfrm>
            <a:off x="8472240" y="219240"/>
            <a:ext cx="3227760" cy="932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Rounded Rectangle 2"/>
          <p:cNvSpPr/>
          <p:nvPr/>
        </p:nvSpPr>
        <p:spPr>
          <a:xfrm>
            <a:off x="822960" y="457200"/>
            <a:ext cx="3544920" cy="36504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0" rIns="2556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ФУНКЦИЯ 4 · ОРГАНИЗАЦИЯ РАБОТЫ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3"/>
          <p:cNvSpPr/>
          <p:nvPr/>
        </p:nvSpPr>
        <p:spPr>
          <a:xfrm>
            <a:off x="822960" y="914400"/>
            <a:ext cx="10514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Рабочие пространства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4"/>
          <p:cNvSpPr/>
          <p:nvPr/>
        </p:nvSpPr>
        <p:spPr>
          <a:xfrm>
            <a:off x="822960" y="1572840"/>
            <a:ext cx="10514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Один источник данных, дашборды и разговор с агентом — вместе, под одну задачу.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5"/>
          <p:cNvSpPr/>
          <p:nvPr/>
        </p:nvSpPr>
        <p:spPr>
          <a:xfrm>
            <a:off x="822960" y="238644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6"/>
          <p:cNvSpPr/>
          <p:nvPr/>
        </p:nvSpPr>
        <p:spPr>
          <a:xfrm>
            <a:off x="1234440" y="2331720"/>
            <a:ext cx="100576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Всё в одном месте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данные, графики и переписка с агентом не расходятся по вкладкам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7"/>
          <p:cNvSpPr/>
          <p:nvPr/>
        </p:nvSpPr>
        <p:spPr>
          <a:xfrm>
            <a:off x="822960" y="316368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8"/>
          <p:cNvSpPr/>
          <p:nvPr/>
        </p:nvSpPr>
        <p:spPr>
          <a:xfrm>
            <a:off x="1234440" y="3108960"/>
            <a:ext cx="100576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Диалог у самого дашборда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попросить объяснить виджет или переделать его тут же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9"/>
          <p:cNvSpPr/>
          <p:nvPr/>
        </p:nvSpPr>
        <p:spPr>
          <a:xfrm>
            <a:off x="822960" y="394092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10"/>
          <p:cNvSpPr/>
          <p:nvPr/>
        </p:nvSpPr>
        <p:spPr>
          <a:xfrm>
            <a:off x="1234440" y="3886200"/>
            <a:ext cx="100576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Несколько версий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можно сравнить, как дашборд выглядел раньше и сейчас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11"/>
          <p:cNvSpPr/>
          <p:nvPr/>
        </p:nvSpPr>
        <p:spPr>
          <a:xfrm>
            <a:off x="822960" y="4791600"/>
            <a:ext cx="10514880" cy="1471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12"/>
          <p:cNvSpPr/>
          <p:nvPr/>
        </p:nvSpPr>
        <p:spPr>
          <a:xfrm>
            <a:off x="822960" y="4791600"/>
            <a:ext cx="81720" cy="147132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45000" rIns="410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13"/>
          <p:cNvSpPr/>
          <p:nvPr/>
        </p:nvSpPr>
        <p:spPr>
          <a:xfrm>
            <a:off x="1170360" y="4937760"/>
            <a:ext cx="9920520" cy="11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0000"/>
              </a:lnSpc>
            </a:pPr>
            <a:r>
              <a:rPr lang="en-US" sz="1450" b="1" u="none" strike="noStrike">
                <a:solidFill>
                  <a:srgbClr val="066FD1"/>
                </a:solidFill>
                <a:effectLst/>
                <a:uFillTx/>
                <a:latin typeface="Arial"/>
              </a:rPr>
              <a:t>Пример.  </a:t>
            </a:r>
            <a:r>
              <a:rPr lang="en-US" sz="1450" b="0" i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Пространство «Продажи Q3» хранит одну базу, три версии дашборда и всю переписку с агентом — ничего не приходится искать по разным местам.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15"/>
          <p:cNvSpPr/>
          <p:nvPr/>
        </p:nvSpPr>
        <p:spPr>
          <a:xfrm>
            <a:off x="786240" y="645552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6"/>
          <p:cNvSpPr/>
          <p:nvPr/>
        </p:nvSpPr>
        <p:spPr>
          <a:xfrm>
            <a:off x="11338560" y="6455520"/>
            <a:ext cx="54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A939E"/>
                </a:solidFill>
                <a:effectLst/>
                <a:uFillTx/>
                <a:latin typeface="Arial"/>
              </a:rPr>
              <a:t>6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" name="Picture 3" descr="C:\Users\user\Desktop\лого2022.PNG"/>
          <p:cNvPicPr/>
          <p:nvPr/>
        </p:nvPicPr>
        <p:blipFill>
          <a:blip r:embed="rId1"/>
          <a:stretch/>
        </p:blipFill>
        <p:spPr>
          <a:xfrm>
            <a:off x="8472240" y="219240"/>
            <a:ext cx="3227760" cy="932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ounded Rectangle 2"/>
          <p:cNvSpPr/>
          <p:nvPr/>
        </p:nvSpPr>
        <p:spPr>
          <a:xfrm>
            <a:off x="822960" y="457200"/>
            <a:ext cx="2706840" cy="36504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0" rIns="2556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ФУНКЦИЯ 5 · МОНИТОРИНГ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3"/>
          <p:cNvSpPr/>
          <p:nvPr/>
        </p:nvSpPr>
        <p:spPr>
          <a:xfrm>
            <a:off x="822960" y="914400"/>
            <a:ext cx="10514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Алерты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4"/>
          <p:cNvSpPr/>
          <p:nvPr/>
        </p:nvSpPr>
        <p:spPr>
          <a:xfrm>
            <a:off x="822960" y="1572840"/>
            <a:ext cx="10514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Платформа сама следит за метриками и сообщает, когда что-то пошло не так.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5"/>
          <p:cNvSpPr/>
          <p:nvPr/>
        </p:nvSpPr>
        <p:spPr>
          <a:xfrm>
            <a:off x="822960" y="238644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D6336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6"/>
          <p:cNvSpPr/>
          <p:nvPr/>
        </p:nvSpPr>
        <p:spPr>
          <a:xfrm>
            <a:off x="1234440" y="2331720"/>
            <a:ext cx="100576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Любое условие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конструктор без кода, свой SQL или Python-скрипт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7"/>
          <p:cNvSpPr/>
          <p:nvPr/>
        </p:nvSpPr>
        <p:spPr>
          <a:xfrm>
            <a:off x="822960" y="297360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D6336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8"/>
          <p:cNvSpPr/>
          <p:nvPr/>
        </p:nvSpPr>
        <p:spPr>
          <a:xfrm>
            <a:off x="1234440" y="2918880"/>
            <a:ext cx="100576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Проверка по расписанию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от нескольких минут и чаще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9"/>
          <p:cNvSpPr/>
          <p:nvPr/>
        </p:nvSpPr>
        <p:spPr>
          <a:xfrm>
            <a:off x="822960" y="356076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D6336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10"/>
          <p:cNvSpPr/>
          <p:nvPr/>
        </p:nvSpPr>
        <p:spPr>
          <a:xfrm>
            <a:off x="1234440" y="3505680"/>
            <a:ext cx="100576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Уведомление сотрудникам и на почту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не только внутри платформы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11"/>
          <p:cNvSpPr/>
          <p:nvPr/>
        </p:nvSpPr>
        <p:spPr>
          <a:xfrm>
            <a:off x="822960" y="414756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D6336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12"/>
          <p:cNvSpPr/>
          <p:nvPr/>
        </p:nvSpPr>
        <p:spPr>
          <a:xfrm>
            <a:off x="1234440" y="4092840"/>
            <a:ext cx="100576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CSV с деталями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к письму сразу прикладываются строки, вызвавшие срабатывание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13"/>
          <p:cNvSpPr/>
          <p:nvPr/>
        </p:nvSpPr>
        <p:spPr>
          <a:xfrm>
            <a:off x="822960" y="473472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D6336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14"/>
          <p:cNvSpPr/>
          <p:nvPr/>
        </p:nvSpPr>
        <p:spPr>
          <a:xfrm>
            <a:off x="1234440" y="4680000"/>
            <a:ext cx="100576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История проверок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видно, что и когда срабатывало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15"/>
          <p:cNvSpPr/>
          <p:nvPr/>
        </p:nvSpPr>
        <p:spPr>
          <a:xfrm>
            <a:off x="822960" y="5394960"/>
            <a:ext cx="10514880" cy="867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Rectangle 16"/>
          <p:cNvSpPr/>
          <p:nvPr/>
        </p:nvSpPr>
        <p:spPr>
          <a:xfrm>
            <a:off x="822960" y="5394960"/>
            <a:ext cx="81720" cy="86796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45000" rIns="410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17"/>
          <p:cNvSpPr/>
          <p:nvPr/>
        </p:nvSpPr>
        <p:spPr>
          <a:xfrm>
            <a:off x="1170360" y="5541120"/>
            <a:ext cx="9920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0000"/>
              </a:lnSpc>
            </a:pPr>
            <a:r>
              <a:rPr lang="en-US" sz="1450" b="1" u="none" strike="noStrike">
                <a:solidFill>
                  <a:srgbClr val="066FD1"/>
                </a:solidFill>
                <a:effectLst/>
                <a:uFillTx/>
                <a:latin typeface="Arial"/>
              </a:rPr>
              <a:t>Пример.  </a:t>
            </a:r>
            <a:r>
              <a:rPr lang="en-US" sz="1450" b="0" i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Финансовый директор настраивает правило «сообщи, если сумма возвратов за день больше $5000». Как только это случается — письмо со сработавшими строками уже у него в почте.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9"/>
          <p:cNvSpPr/>
          <p:nvPr/>
        </p:nvSpPr>
        <p:spPr>
          <a:xfrm>
            <a:off x="786240" y="645552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20"/>
          <p:cNvSpPr/>
          <p:nvPr/>
        </p:nvSpPr>
        <p:spPr>
          <a:xfrm>
            <a:off x="11338560" y="6455520"/>
            <a:ext cx="54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A939E"/>
                </a:solidFill>
                <a:effectLst/>
                <a:uFillTx/>
                <a:latin typeface="Arial"/>
              </a:rPr>
              <a:t>7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Picture 3" descr="C:\Users\user\Desktop\лого2022.PNG"/>
          <p:cNvPicPr/>
          <p:nvPr/>
        </p:nvPicPr>
        <p:blipFill>
          <a:blip r:embed="rId1"/>
          <a:stretch/>
        </p:blipFill>
        <p:spPr>
          <a:xfrm>
            <a:off x="8472240" y="219240"/>
            <a:ext cx="3227760" cy="932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Rounded Rectangle 2"/>
          <p:cNvSpPr/>
          <p:nvPr/>
        </p:nvSpPr>
        <p:spPr>
          <a:xfrm>
            <a:off x="822960" y="457200"/>
            <a:ext cx="2287440" cy="36504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0" rIns="2556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ФУНКЦИЯ 6 · ОТЧЁТЫ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3"/>
          <p:cNvSpPr/>
          <p:nvPr/>
        </p:nvSpPr>
        <p:spPr>
          <a:xfrm>
            <a:off x="822960" y="914400"/>
            <a:ext cx="10514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Экспорт в файл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4"/>
          <p:cNvSpPr/>
          <p:nvPr/>
        </p:nvSpPr>
        <p:spPr>
          <a:xfrm>
            <a:off x="822960" y="1572840"/>
            <a:ext cx="10514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Просите файл прямо в чате — платформа сама его готовит.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ounded Rectangle 5"/>
          <p:cNvSpPr/>
          <p:nvPr/>
        </p:nvSpPr>
        <p:spPr>
          <a:xfrm>
            <a:off x="822960" y="238644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6"/>
          <p:cNvSpPr/>
          <p:nvPr/>
        </p:nvSpPr>
        <p:spPr>
          <a:xfrm>
            <a:off x="1234440" y="2331720"/>
            <a:ext cx="1005768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Четыре формата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CSV, Excel, PDF, Word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7"/>
          <p:cNvSpPr/>
          <p:nvPr/>
        </p:nvSpPr>
        <p:spPr>
          <a:xfrm>
            <a:off x="822960" y="312048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8"/>
          <p:cNvSpPr/>
          <p:nvPr/>
        </p:nvSpPr>
        <p:spPr>
          <a:xfrm>
            <a:off x="1234440" y="3065400"/>
            <a:ext cx="1005768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Обычная фраза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«сохрани топ-10 клиентов в Excel» — и файл готов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9"/>
          <p:cNvSpPr/>
          <p:nvPr/>
        </p:nvSpPr>
        <p:spPr>
          <a:xfrm>
            <a:off x="822960" y="385416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10"/>
          <p:cNvSpPr/>
          <p:nvPr/>
        </p:nvSpPr>
        <p:spPr>
          <a:xfrm>
            <a:off x="1234440" y="3799440"/>
            <a:ext cx="1005768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Ссылка сразу в переписке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скачать может любой, кому её переслали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ounded Rectangle 11"/>
          <p:cNvSpPr/>
          <p:nvPr/>
        </p:nvSpPr>
        <p:spPr>
          <a:xfrm>
            <a:off x="822960" y="458784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12"/>
          <p:cNvSpPr/>
          <p:nvPr/>
        </p:nvSpPr>
        <p:spPr>
          <a:xfrm>
            <a:off x="1234440" y="4533120"/>
            <a:ext cx="1005768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История выгрузок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прошлые файлы всегда под рукой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13"/>
          <p:cNvSpPr/>
          <p:nvPr/>
        </p:nvSpPr>
        <p:spPr>
          <a:xfrm>
            <a:off x="822960" y="5394960"/>
            <a:ext cx="10514880" cy="867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Rectangle 14"/>
          <p:cNvSpPr/>
          <p:nvPr/>
        </p:nvSpPr>
        <p:spPr>
          <a:xfrm>
            <a:off x="822960" y="5394960"/>
            <a:ext cx="81720" cy="86796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45000" rIns="410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5"/>
          <p:cNvSpPr/>
          <p:nvPr/>
        </p:nvSpPr>
        <p:spPr>
          <a:xfrm>
            <a:off x="1170360" y="5541120"/>
            <a:ext cx="9920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0000"/>
              </a:lnSpc>
            </a:pPr>
            <a:r>
              <a:rPr lang="en-US" sz="1450" b="1" u="none" strike="noStrike">
                <a:solidFill>
                  <a:srgbClr val="066FD1"/>
                </a:solidFill>
                <a:effectLst/>
                <a:uFillTx/>
                <a:latin typeface="Arial"/>
              </a:rPr>
              <a:t>Пример.  </a:t>
            </a:r>
            <a:r>
              <a:rPr lang="en-US" sz="1450" b="0" i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Перед встречей с инвестором менеджер просит агента подготовить PDF-отчёт по выручке — файл готов за секунды, вручную считать в Excel не нужно.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7"/>
          <p:cNvSpPr/>
          <p:nvPr/>
        </p:nvSpPr>
        <p:spPr>
          <a:xfrm>
            <a:off x="786240" y="645552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8"/>
          <p:cNvSpPr/>
          <p:nvPr/>
        </p:nvSpPr>
        <p:spPr>
          <a:xfrm>
            <a:off x="11338560" y="6455520"/>
            <a:ext cx="54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A939E"/>
                </a:solidFill>
                <a:effectLst/>
                <a:uFillTx/>
                <a:latin typeface="Arial"/>
              </a:rPr>
              <a:t>8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0" name="Picture 3" descr="C:\Users\user\Desktop\лого2022.PNG"/>
          <p:cNvPicPr/>
          <p:nvPr/>
        </p:nvPicPr>
        <p:blipFill>
          <a:blip r:embed="rId1"/>
          <a:stretch/>
        </p:blipFill>
        <p:spPr>
          <a:xfrm>
            <a:off x="8472240" y="219240"/>
            <a:ext cx="3227760" cy="932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Rounded Rectangle 2"/>
          <p:cNvSpPr/>
          <p:nvPr/>
        </p:nvSpPr>
        <p:spPr>
          <a:xfrm>
            <a:off x="822960" y="457200"/>
            <a:ext cx="2392200" cy="36504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0" rIns="2556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ФУНКЦИЯ 7 · КОМАНДА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3"/>
          <p:cNvSpPr/>
          <p:nvPr/>
        </p:nvSpPr>
        <p:spPr>
          <a:xfrm>
            <a:off x="822960" y="914400"/>
            <a:ext cx="10514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Роли и доступ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4"/>
          <p:cNvSpPr/>
          <p:nvPr/>
        </p:nvSpPr>
        <p:spPr>
          <a:xfrm>
            <a:off x="822960" y="1572840"/>
            <a:ext cx="10514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У каждого сотрудника ровно тот доступ, который нужен для его работы.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ounded Rectangle 5"/>
          <p:cNvSpPr/>
          <p:nvPr/>
        </p:nvSpPr>
        <p:spPr>
          <a:xfrm>
            <a:off x="822960" y="238644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42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6"/>
          <p:cNvSpPr/>
          <p:nvPr/>
        </p:nvSpPr>
        <p:spPr>
          <a:xfrm>
            <a:off x="1234440" y="2331720"/>
            <a:ext cx="100576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Администратор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полный доступ, управляет сотрудниками и правами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7"/>
          <p:cNvSpPr/>
          <p:nvPr/>
        </p:nvSpPr>
        <p:spPr>
          <a:xfrm>
            <a:off x="822960" y="297360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42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8"/>
          <p:cNvSpPr/>
          <p:nvPr/>
        </p:nvSpPr>
        <p:spPr>
          <a:xfrm>
            <a:off x="1234440" y="2918880"/>
            <a:ext cx="100576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Аналитик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строит дашборды, подключает источники, ведёт чаты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ounded Rectangle 9"/>
          <p:cNvSpPr/>
          <p:nvPr/>
        </p:nvSpPr>
        <p:spPr>
          <a:xfrm>
            <a:off x="822960" y="356076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42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Box 10"/>
          <p:cNvSpPr/>
          <p:nvPr/>
        </p:nvSpPr>
        <p:spPr>
          <a:xfrm>
            <a:off x="1234440" y="3505680"/>
            <a:ext cx="100576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Наблюдатель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только просмотр готовых дашбордов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ounded Rectangle 11"/>
          <p:cNvSpPr/>
          <p:nvPr/>
        </p:nvSpPr>
        <p:spPr>
          <a:xfrm>
            <a:off x="822960" y="414756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42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12"/>
          <p:cNvSpPr/>
          <p:nvPr/>
        </p:nvSpPr>
        <p:spPr>
          <a:xfrm>
            <a:off x="1234440" y="4092840"/>
            <a:ext cx="100576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Директор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особый облегчённый режим: только чат с ИИ и готовые дашборды, без настроек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13"/>
          <p:cNvSpPr/>
          <p:nvPr/>
        </p:nvSpPr>
        <p:spPr>
          <a:xfrm>
            <a:off x="822960" y="4734720"/>
            <a:ext cx="200520" cy="200520"/>
          </a:xfrm>
          <a:prstGeom prst="roundRect">
            <a:avLst>
              <a:gd name="adj" fmla="val 25000"/>
            </a:avLst>
          </a:prstGeom>
          <a:solidFill>
            <a:srgbClr val="42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14"/>
          <p:cNvSpPr/>
          <p:nvPr/>
        </p:nvSpPr>
        <p:spPr>
          <a:xfrm>
            <a:off x="1234440" y="4680000"/>
            <a:ext cx="100576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Особые права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доступ настраивается галочками под конкретного сотрудника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ounded Rectangle 15"/>
          <p:cNvSpPr/>
          <p:nvPr/>
        </p:nvSpPr>
        <p:spPr>
          <a:xfrm>
            <a:off x="822960" y="5394960"/>
            <a:ext cx="10514880" cy="867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Rectangle 16"/>
          <p:cNvSpPr/>
          <p:nvPr/>
        </p:nvSpPr>
        <p:spPr>
          <a:xfrm>
            <a:off x="822960" y="5394960"/>
            <a:ext cx="81720" cy="86796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45000" rIns="410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17"/>
          <p:cNvSpPr/>
          <p:nvPr/>
        </p:nvSpPr>
        <p:spPr>
          <a:xfrm>
            <a:off x="1170360" y="5541120"/>
            <a:ext cx="9920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0000"/>
              </a:lnSpc>
            </a:pPr>
            <a:r>
              <a:rPr lang="en-US" sz="1450" b="1" u="none" strike="noStrike">
                <a:solidFill>
                  <a:srgbClr val="066FD1"/>
                </a:solidFill>
                <a:effectLst/>
                <a:uFillTx/>
                <a:latin typeface="Arial"/>
              </a:rPr>
              <a:t>Пример.  </a:t>
            </a:r>
            <a:r>
              <a:rPr lang="en-US" sz="1450" b="0" i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Директор компании открывает Datavue и видит только чат: спрашивает «как дела с продажами» — и сразу получает готовый дашборд, не отвлекаясь на лишние настройки.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9"/>
          <p:cNvSpPr/>
          <p:nvPr/>
        </p:nvSpPr>
        <p:spPr>
          <a:xfrm>
            <a:off x="786240" y="645552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20"/>
          <p:cNvSpPr/>
          <p:nvPr/>
        </p:nvSpPr>
        <p:spPr>
          <a:xfrm>
            <a:off x="11338560" y="6455520"/>
            <a:ext cx="54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A939E"/>
                </a:solidFill>
                <a:effectLst/>
                <a:uFillTx/>
                <a:latin typeface="Arial"/>
              </a:rPr>
              <a:t>9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Picture 3" descr="C:\Users\user\Desktop\лого2022.PNG"/>
          <p:cNvPicPr/>
          <p:nvPr/>
        </p:nvPicPr>
        <p:blipFill>
          <a:blip r:embed="rId1"/>
          <a:stretch/>
        </p:blipFill>
        <p:spPr>
          <a:xfrm>
            <a:off x="8472240" y="219240"/>
            <a:ext cx="3227760" cy="932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Oval 1"/>
          <p:cNvSpPr/>
          <p:nvPr/>
        </p:nvSpPr>
        <p:spPr>
          <a:xfrm>
            <a:off x="-2743200" y="-2743200"/>
            <a:ext cx="5119920" cy="5119920"/>
          </a:xfrm>
          <a:prstGeom prst="ellipse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Oval 2"/>
          <p:cNvSpPr/>
          <p:nvPr/>
        </p:nvSpPr>
        <p:spPr>
          <a:xfrm>
            <a:off x="9784080" y="4023360"/>
            <a:ext cx="5119920" cy="5119920"/>
          </a:xfrm>
          <a:prstGeom prst="ellipse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Rectangle 3"/>
          <p:cNvSpPr/>
          <p:nvPr/>
        </p:nvSpPr>
        <p:spPr>
          <a:xfrm>
            <a:off x="0" y="0"/>
            <a:ext cx="12191040" cy="14544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Rectangle 4"/>
          <p:cNvSpPr/>
          <p:nvPr/>
        </p:nvSpPr>
        <p:spPr>
          <a:xfrm>
            <a:off x="0" y="6711840"/>
            <a:ext cx="12191040" cy="14544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35" name="Picture 5" descr="icon.png"/>
          <p:cNvPicPr/>
          <p:nvPr/>
        </p:nvPicPr>
        <p:blipFill>
          <a:blip r:embed="rId1"/>
          <a:stretch/>
        </p:blipFill>
        <p:spPr>
          <a:xfrm>
            <a:off x="5592960" y="1600200"/>
            <a:ext cx="1013040" cy="100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TextBox 6"/>
          <p:cNvSpPr/>
          <p:nvPr/>
        </p:nvSpPr>
        <p:spPr>
          <a:xfrm>
            <a:off x="1097280" y="2880360"/>
            <a:ext cx="100576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Спасибо за внимание!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7"/>
          <p:cNvSpPr/>
          <p:nvPr/>
        </p:nvSpPr>
        <p:spPr>
          <a:xfrm>
            <a:off x="1097280" y="3703320"/>
            <a:ext cx="10057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066FD1"/>
                </a:solidFill>
                <a:effectLst/>
                <a:uFillTx/>
                <a:latin typeface="Arial"/>
              </a:rPr>
              <a:t>Datavue — вся аналитика бизнеса в одном чате.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8"/>
          <p:cNvSpPr/>
          <p:nvPr/>
        </p:nvSpPr>
        <p:spPr>
          <a:xfrm>
            <a:off x="1097280" y="4480560"/>
            <a:ext cx="10057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8A939E"/>
                </a:solidFill>
                <a:effectLst/>
                <a:uFillTx/>
                <a:latin typeface="Arial"/>
              </a:rPr>
              <a:t>Азим Раупов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9" name="Picture 3" descr="C:\Users\user\Desktop\лого2022.PNG"/>
          <p:cNvPicPr/>
          <p:nvPr/>
        </p:nvPicPr>
        <p:blipFill>
          <a:blip r:embed="rId2"/>
          <a:stretch/>
        </p:blipFill>
        <p:spPr>
          <a:xfrm>
            <a:off x="8472240" y="219240"/>
            <a:ext cx="3227760" cy="932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</TotalTime>
  <Application>LibreOffice/26.2.5.2$Linux_X86_64 LibreOffice_project/6d2b0d33fb0f5da53a12f98bed3e9973e56ff1f0</Application>
  <AppVersion>15.0000</AppVersion>
  <Words>835</Words>
  <Paragraphs>84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2026-09-14T23:00:51Z</dcterms:modified>
  <cp:revision>5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Произвольный</vt:lpwstr>
  </property>
  <property fmtid="{D5CDD505-2E9C-101B-9397-08002B2CF9AE}" pid="3" name="Slides">
    <vt:i4>10</vt:i4>
  </property>
</Properties>
</file>